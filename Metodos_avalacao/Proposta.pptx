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38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6239" cy="6492240"/>
          </a:xfrm>
          <a:prstGeom prst="rect">
            <a:avLst/>
          </a:prstGeom>
          <a:noFill/>
          <a:ln w="317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470943" cy="6992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 dirty="0">
                <a:solidFill>
                  <a:srgbClr val="228B22"/>
                </a:solidFill>
              </a:rPr>
              <a:t>Pass/Fail with Extended </a:t>
            </a:r>
            <a:r>
              <a:rPr sz="3200" b="1" dirty="0" err="1">
                <a:solidFill>
                  <a:srgbClr val="228B22"/>
                </a:solidFill>
              </a:rPr>
              <a:t>Angoff</a:t>
            </a:r>
            <a:r>
              <a:rPr sz="3200" b="1" dirty="0">
                <a:solidFill>
                  <a:srgbClr val="228B22"/>
                </a:solidFill>
              </a:rPr>
              <a:t> — Single‑Rater (Non‑Author)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46079" cy="4251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rPr dirty="0"/>
              <a:t>Cohort: 25 residents • Questions: 6 open‑ended (3–4 subitems each).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rPr dirty="0"/>
              <a:t>Each question is marked by one assigned rater who is not the author.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rPr dirty="0"/>
              <a:t>We will use Extended </a:t>
            </a:r>
            <a:r>
              <a:rPr dirty="0" err="1"/>
              <a:t>Angoff</a:t>
            </a:r>
            <a:r>
              <a:rPr dirty="0"/>
              <a:t> to set the cut score, then analyze internal consistency and the standard error of measurement to support decisions.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6239" cy="6492240"/>
          </a:xfrm>
          <a:prstGeom prst="rect">
            <a:avLst/>
          </a:prstGeom>
          <a:noFill/>
          <a:ln w="317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39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228B22"/>
                </a:solidFill>
              </a:rPr>
              <a:t>Roles and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46079" cy="4251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Item author: writes the question and model answer; does not score live scripts.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Assigned rater (non‑author): marks all responses for that question using the shared rubric.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Coordinator: runs standard setting, compiles data, computes internal consistency and the standard error of measurement, and issues the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6239" cy="6492240"/>
          </a:xfrm>
          <a:prstGeom prst="rect">
            <a:avLst/>
          </a:prstGeom>
          <a:noFill/>
          <a:ln w="317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39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228B22"/>
                </a:solidFill>
              </a:rPr>
              <a:t>Define the Minimally Competent Resident (MCR)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46079" cy="4251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One paragraph with observable behaviors relevant to all questions.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List non‑negotiables: recognition of red flags, safe initial management, coherent justification.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Use this description in training, in standard setting, and as a reference during scoring.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6239" cy="6492240"/>
          </a:xfrm>
          <a:prstGeom prst="rect">
            <a:avLst/>
          </a:prstGeom>
          <a:noFill/>
          <a:ln w="317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39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228B22"/>
                </a:solidFill>
              </a:rPr>
              <a:t>Shared Analytic Rubric (all questions)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46079" cy="4251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Four criteria: clinical reasoning, data interpretation, management plan, justification and safety.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Five ordered levels per criterion: from off‑task or unsafe to excellent.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Each question includes a model answer with key points and intended weighting.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6239" cy="6492240"/>
          </a:xfrm>
          <a:prstGeom prst="rect">
            <a:avLst/>
          </a:prstGeom>
          <a:noFill/>
          <a:ln w="317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328981" cy="623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 dirty="0">
                <a:solidFill>
                  <a:srgbClr val="228B22"/>
                </a:solidFill>
              </a:rPr>
              <a:t>Extended </a:t>
            </a:r>
            <a:r>
              <a:rPr sz="2800" b="1" dirty="0" err="1">
                <a:solidFill>
                  <a:srgbClr val="228B22"/>
                </a:solidFill>
              </a:rPr>
              <a:t>Angoff</a:t>
            </a:r>
            <a:r>
              <a:rPr sz="2800" b="1" dirty="0">
                <a:solidFill>
                  <a:srgbClr val="228B22"/>
                </a:solidFill>
              </a:rPr>
              <a:t> — Step by Step (our only standard‑setting method)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6175"/>
            <a:ext cx="10546079" cy="4251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rPr dirty="0"/>
              <a:t>Round 1: each expert independently estimates the score the minimally competent resident would obtain on each question (from zero up to the question maximum).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rPr dirty="0"/>
              <a:t>Focused discussion: review questions with the widest spread; use anchor scripts and the model answers to explain reasons.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rPr dirty="0"/>
              <a:t>Round 2: experts re‑estimate.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rPr dirty="0"/>
              <a:t>Per question: compute the median of the five non‑authors’ estimates (record the author’s estimate but do not count it).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rPr dirty="0"/>
              <a:t>Exam cut score: add the six per‑question medians. Record the rationale and archive both rounds.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6239" cy="6492240"/>
          </a:xfrm>
          <a:prstGeom prst="rect">
            <a:avLst/>
          </a:prstGeom>
          <a:noFill/>
          <a:ln w="317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39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228B22"/>
                </a:solidFill>
              </a:rPr>
              <a:t>Worked Mini‑Example (numbers for illustration)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46079" cy="4251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Assume each question has a maximum of 20 points.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Medians of the five non‑authors after Round 2: Q1=14, Q2=13, Q3=12, Q4=15, Q5=13, Q6=14.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Exam cut score = 14+13+12+15+13+14 = 81 out of 120.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6239" cy="6492240"/>
          </a:xfrm>
          <a:prstGeom prst="rect">
            <a:avLst/>
          </a:prstGeom>
          <a:noFill/>
          <a:ln w="317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39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228B22"/>
                </a:solidFill>
              </a:rPr>
              <a:t>Single‑Rater Scoring (non‑author) —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46079" cy="4251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Export Google Forms responses to a Sheet; anonymize resident identifiers before marking.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One rater per question. Use drop‑downs for rubric levels and automatic sums per criterion and per question.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Batch scripts and schedule short breaks to limit fatigue; keep an audit log of any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6239" cy="6492240"/>
          </a:xfrm>
          <a:prstGeom prst="rect">
            <a:avLst/>
          </a:prstGeom>
          <a:noFill/>
          <a:ln w="317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39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228B22"/>
                </a:solidFill>
              </a:rPr>
              <a:t>Bias Controls under Single‑Rater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46079" cy="4251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Ownership eliminated: authors do not score their own question.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Calibration before scoring: all raters mark three to five anchor scripts; compare marks criterion by criterion and refine descriptors.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Drift checks during scoring: re‑mark one anchor every 10–15 scripts; if drift is detected, pause and re‑calibrate.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Severity monitoring: coordinator reviews rater score distributions by criterion to detect systematic harshness or leniency.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6239" cy="6492240"/>
          </a:xfrm>
          <a:prstGeom prst="rect">
            <a:avLst/>
          </a:prstGeom>
          <a:noFill/>
          <a:ln w="317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277814" cy="623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 dirty="0">
                <a:solidFill>
                  <a:srgbClr val="228B22"/>
                </a:solidFill>
              </a:rPr>
              <a:t>Internal Consistency (Cronbach’s alpha coefficient) — Why and 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46079" cy="4251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rPr dirty="0"/>
              <a:t>Purpose: check if the six question scores behave like indicators of the same intended construct.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rPr dirty="0"/>
              <a:t>Computation uses the variance of each question’s scores and the variance of the total score; higher quality and a suitable test length increase the coefficient.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rPr dirty="0"/>
              <a:t>Guides: around 0.70 is adequate; around 0.80 is good; values above 0.90 can imply redundancy.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rPr dirty="0"/>
              <a:t>If questions target distinct abilities, compute and report consistency by section as well as for the total.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6239" cy="6492240"/>
          </a:xfrm>
          <a:prstGeom prst="rect">
            <a:avLst/>
          </a:prstGeom>
          <a:noFill/>
          <a:ln w="317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39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228B22"/>
                </a:solidFill>
              </a:rPr>
              <a:t>Standard Error of Measurement — Why and 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46079" cy="4251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Purpose: quantify the typical score imprecision for an individual resident.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Computation: standard deviation of total scores multiplied by the square‑root of one minus the reliability (for example, Cronbach’s alpha coefficient).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Interpretation: a score X has an approximate ninety‑five percent band of X ± 1.96 times the standard error of measurement.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Use: declare a small fairness band below the cut score based on this value.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6239" cy="6492240"/>
          </a:xfrm>
          <a:prstGeom prst="rect">
            <a:avLst/>
          </a:prstGeom>
          <a:noFill/>
          <a:ln w="317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39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228B22"/>
                </a:solidFill>
              </a:rPr>
              <a:t>Decision Policy (single‑rater, safety‑first, fair)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46079" cy="4251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Primary rule: pass at or above the Extended Angoff cut score.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Fairness band: if a resident’s total is within one standard error of measurement below the cut, classify as borderline and request a documented self‑audit by the same rater (no second rater required).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Section minimums: require a minimum on the safety‑weighted criterion even if the total would pass.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Patient‑safety fail triggers: clearly unsafe actions cause automatic fail regardless of total score.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6239" cy="6492240"/>
          </a:xfrm>
          <a:prstGeom prst="rect">
            <a:avLst/>
          </a:prstGeom>
          <a:noFill/>
          <a:ln w="317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39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228B22"/>
                </a:solidFill>
              </a:rPr>
              <a:t>Analyses and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46079" cy="4251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Per question and per criterion: relationship with the total and top‑minus‑bottom group differences to judge discrimination.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For the total: internal consistency; compute the standard error of measurement and state the fairness band near the cut.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Report the cut score, the justification from Round 2, the distribution of scores, borderline counts and outcomes, and any safety‑trigger decisions.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Archive the standard‑setting sheets, rubric, anchors, and the final dataset.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6239" cy="6492240"/>
          </a:xfrm>
          <a:prstGeom prst="rect">
            <a:avLst/>
          </a:prstGeom>
          <a:noFill/>
          <a:ln w="317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39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228B22"/>
                </a:solidFill>
              </a:rPr>
              <a:t>Timeline (lean)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46079" cy="4251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T‑7 days: finalize rubric, model answers, and anchor scripts; write the minimally competent resident description.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T‑3 days: Extended Angoff Round 1; compile spread list.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T‑2 days: Round 2; compute per‑question medians and the exam cut; document rationale.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Exam day: collect, anonymize, assign to raters; score in batches with drift checks.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T+1–3 days: compute internal consistency and the standard error of measurement; apply the decision policy; publish the report.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6239" cy="6492240"/>
          </a:xfrm>
          <a:prstGeom prst="rect">
            <a:avLst/>
          </a:prstGeom>
          <a:noFill/>
          <a:ln w="317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39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228B22"/>
                </a:solidFill>
              </a:rPr>
              <a:t>What We Will Approve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46079" cy="4251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Extended Angoff as the only standard‑setting method (author estimates recorded but not counted on their item).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Single‑rater marking per question by a non‑author, with calibration and drift checks.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2400"/>
            </a:pPr>
            <a:r>
              <a:t>Decision policy using the standard error of measurement and patient‑safety fail triggers.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1079</Words>
  <Application>Microsoft Office PowerPoint</Application>
  <PresentationFormat>Widescreen</PresentationFormat>
  <Paragraphs>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Preceptoria Clínica</dc:creator>
  <cp:keywords/>
  <dc:description>generated using python-pptx</dc:description>
  <cp:lastModifiedBy>Lucas Miachon</cp:lastModifiedBy>
  <cp:revision>2</cp:revision>
  <dcterms:created xsi:type="dcterms:W3CDTF">2013-01-27T09:14:16Z</dcterms:created>
  <dcterms:modified xsi:type="dcterms:W3CDTF">2025-10-04T01:44:13Z</dcterms:modified>
  <cp:category/>
</cp:coreProperties>
</file>