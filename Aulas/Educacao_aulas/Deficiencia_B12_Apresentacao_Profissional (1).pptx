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93769"/>
                </a:solidFill>
              </a:defRPr>
            </a:pPr>
            <a:r>
              <a:t>Deficiência de Vitamina B12 em Adultos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336699"/>
                </a:solidFill>
              </a:defRPr>
            </a:pPr>
            <a:r>
              <a:t>Panorama, Diagnóstico e Tratamento — 2010–2025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t>Aula Institucional | Formato 16:9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Epidemiologia e Relevância Clínica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93769"/>
                </a:solidFill>
              </a:defRPr>
            </a:pPr>
            <a:r>
              <a:t>Prevalência: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3–6% em adultos &lt;60 anos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15–20% em adultos &gt;60 anos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Até 40% subclínicos em idosos</a:t>
            </a:r>
          </a:p>
          <a:p>
            <a:br/>
            <a:pPr>
              <a:spcAft>
                <a:spcPts val="400"/>
              </a:spcAft>
              <a:defRPr sz="1800" b="1">
                <a:solidFill>
                  <a:srgbClr val="193769"/>
                </a:solidFill>
              </a:defRPr>
            </a:pPr>
            <a:r>
              <a:t>Brasil: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Prevalência relevante em idosos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Risco maior: IBP e metformina crônicos</a:t>
            </a:r>
          </a:p>
          <a:p>
            <a:br/>
            <a:pPr>
              <a:spcAft>
                <a:spcPts val="400"/>
              </a:spcAft>
              <a:defRPr sz="1800" b="1">
                <a:solidFill>
                  <a:srgbClr val="193769"/>
                </a:solidFill>
              </a:defRPr>
            </a:pPr>
            <a:r>
              <a:t>Impacto Clínico: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Causa tratável de anemia megaloblástica e comprometimento neurológico potencialmente irreversível se diagnóstico tardio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Etiologias e Prevalência Aproximada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0467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336699"/>
                </a:solidFill>
              </a:defRPr>
            </a:pPr>
            <a:r>
              <a:t>Malabsorção ligada ao alimento: 50–70%</a:t>
            </a:r>
          </a:p>
          <a:p>
            <a:pPr lvl="1"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Gastrite atrófica/H. pylori; IBP/H2</a:t>
            </a:r>
          </a:p>
          <a:p>
            <a:pPr>
              <a:spcAft>
                <a:spcPts val="200"/>
              </a:spcAft>
              <a:defRPr sz="1600" b="1">
                <a:solidFill>
                  <a:srgbClr val="336699"/>
                </a:solidFill>
              </a:defRPr>
            </a:pPr>
            <a:r>
              <a:t>Anemia perniciosa (autoimune): 15–20%</a:t>
            </a:r>
          </a:p>
          <a:p>
            <a:pPr lvl="1"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AIFA/APCA+</a:t>
            </a:r>
          </a:p>
          <a:p>
            <a:pPr>
              <a:spcAft>
                <a:spcPts val="200"/>
              </a:spcAft>
              <a:defRPr sz="1600" b="1">
                <a:solidFill>
                  <a:srgbClr val="336699"/>
                </a:solidFill>
              </a:defRPr>
            </a:pPr>
            <a:r>
              <a:t>Deficiência dietética: ~10%</a:t>
            </a:r>
          </a:p>
          <a:p>
            <a:pPr lvl="1"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Veganismo/desnutrição</a:t>
            </a:r>
          </a:p>
          <a:p>
            <a:pPr>
              <a:spcAft>
                <a:spcPts val="200"/>
              </a:spcAft>
              <a:defRPr sz="1600" b="1">
                <a:solidFill>
                  <a:srgbClr val="336699"/>
                </a:solidFill>
              </a:defRPr>
            </a:pPr>
            <a:r>
              <a:t>Cirurgia gástrica/doença ileal: 5–10%</a:t>
            </a:r>
          </a:p>
          <a:p>
            <a:pPr lvl="1"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Gastrectomia/ressecção ileal</a:t>
            </a:r>
          </a:p>
          <a:p>
            <a:pPr>
              <a:spcAft>
                <a:spcPts val="200"/>
              </a:spcAft>
              <a:defRPr sz="1600" b="1">
                <a:solidFill>
                  <a:srgbClr val="336699"/>
                </a:solidFill>
              </a:defRPr>
            </a:pPr>
            <a:r>
              <a:t>Fármacos: Variável</a:t>
            </a:r>
          </a:p>
          <a:p>
            <a:pPr lvl="1"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Metformina 10–30% (&gt;4–5a); IBP 5–15%; N₂O</a:t>
            </a:r>
          </a:p>
          <a:p>
            <a:br/>
            <a:pPr>
              <a:defRPr sz="1400" i="1">
                <a:solidFill>
                  <a:srgbClr val="336699"/>
                </a:solidFill>
              </a:defRPr>
            </a:pPr>
            <a:r>
              <a:t>• Em idosos: etiologia frequentemente multifatorial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Manifestações Clínicas e Achados Laboratoriais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40233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93769"/>
                </a:solidFill>
              </a:defRPr>
            </a:pPr>
            <a:r>
              <a:t>Achados Hematológicos:</a:t>
            </a:r>
          </a:p>
          <a:p>
            <a:pPr>
              <a:spcAft>
                <a:spcPts val="300"/>
              </a:spcAft>
              <a:defRPr sz="1400">
                <a:solidFill>
                  <a:srgbClr val="404040"/>
                </a:solidFill>
              </a:defRPr>
            </a:pPr>
            <a:r>
              <a:t>Anemia macro-ovalocítica (VCM &gt;110 fL)</a:t>
            </a:r>
          </a:p>
          <a:p>
            <a:pPr>
              <a:spcAft>
                <a:spcPts val="300"/>
              </a:spcAft>
              <a:defRPr sz="1400">
                <a:solidFill>
                  <a:srgbClr val="404040"/>
                </a:solidFill>
              </a:defRPr>
            </a:pPr>
            <a:r>
              <a:t>Pancitopenia possível</a:t>
            </a:r>
          </a:p>
          <a:p>
            <a:pPr>
              <a:spcAft>
                <a:spcPts val="300"/>
              </a:spcAft>
              <a:defRPr sz="1400">
                <a:solidFill>
                  <a:srgbClr val="404040"/>
                </a:solidFill>
              </a:defRPr>
            </a:pPr>
            <a:r>
              <a:t>Reticulócitos baixos</a:t>
            </a:r>
          </a:p>
          <a:p>
            <a:br/>
            <a:pPr>
              <a:spcAft>
                <a:spcPts val="300"/>
              </a:spcAft>
              <a:defRPr sz="1600" b="1">
                <a:solidFill>
                  <a:srgbClr val="193769"/>
                </a:solidFill>
              </a:defRPr>
            </a:pPr>
            <a:r>
              <a:t>Hemólise Ineficaz:</a:t>
            </a:r>
          </a:p>
          <a:p>
            <a:pPr>
              <a:spcAft>
                <a:spcPts val="300"/>
              </a:spcAft>
              <a:defRPr sz="1400">
                <a:solidFill>
                  <a:srgbClr val="404040"/>
                </a:solidFill>
              </a:defRPr>
            </a:pPr>
            <a:r>
              <a:t>LDH ↑↑</a:t>
            </a:r>
          </a:p>
          <a:p>
            <a:pPr>
              <a:spcAft>
                <a:spcPts val="300"/>
              </a:spcAft>
              <a:defRPr sz="1400">
                <a:solidFill>
                  <a:srgbClr val="404040"/>
                </a:solidFill>
              </a:defRPr>
            </a:pPr>
            <a:r>
              <a:t>Bilirrubina indireta ↑</a:t>
            </a:r>
          </a:p>
          <a:p>
            <a:pPr>
              <a:spcAft>
                <a:spcPts val="300"/>
              </a:spcAft>
              <a:defRPr sz="1400">
                <a:solidFill>
                  <a:srgbClr val="404040"/>
                </a:solidFill>
              </a:defRPr>
            </a:pPr>
            <a:r>
              <a:t>Haptoglobina baixa</a:t>
            </a:r>
          </a:p>
          <a:p>
            <a:pPr>
              <a:spcAft>
                <a:spcPts val="300"/>
              </a:spcAft>
              <a:defRPr sz="1400">
                <a:solidFill>
                  <a:srgbClr val="404040"/>
                </a:solidFill>
              </a:defRPr>
            </a:pPr>
            <a:r>
              <a:t>Esquizócitos ocasionais (&lt;1%)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822960"/>
            <a:ext cx="40233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93769"/>
                </a:solidFill>
              </a:defRPr>
            </a:pPr>
            <a:r>
              <a:t>Esfregaço de Sangue:</a:t>
            </a:r>
          </a:p>
          <a:p>
            <a:pPr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Macro-ovalócitos e hipersegmentação neutrofílica</a:t>
            </a:r>
          </a:p>
          <a:p>
            <a:pPr>
              <a:spcAft>
                <a:spcPts val="200"/>
              </a:spcAft>
              <a:defRPr sz="1400" b="1">
                <a:solidFill>
                  <a:srgbClr val="336699"/>
                </a:solidFill>
              </a:defRPr>
            </a:pPr>
            <a:r>
              <a:t>CRITÉRIO CLÁSSICO:</a:t>
            </a:r>
          </a:p>
          <a:p>
            <a:pPr lvl="1">
              <a:spcAft>
                <a:spcPts val="300"/>
              </a:spcAft>
              <a:defRPr sz="1300">
                <a:solidFill>
                  <a:srgbClr val="404040"/>
                </a:solidFill>
              </a:defRPr>
            </a:pPr>
            <a:r>
              <a:t>≥5% neutrófilos com 5 lóbulos</a:t>
            </a:r>
          </a:p>
          <a:p>
            <a:pPr lvl="1">
              <a:spcAft>
                <a:spcPts val="300"/>
              </a:spcAft>
              <a:defRPr sz="1300">
                <a:solidFill>
                  <a:srgbClr val="404040"/>
                </a:solidFill>
              </a:defRPr>
            </a:pPr>
            <a:r>
              <a:t>OU ≥1 neutrófilo com ≥6 lóbulos</a:t>
            </a:r>
          </a:p>
          <a:p>
            <a:br/>
            <a:pPr>
              <a:spcAft>
                <a:spcPts val="300"/>
              </a:spcAft>
              <a:defRPr sz="1600" b="1">
                <a:solidFill>
                  <a:srgbClr val="193769"/>
                </a:solidFill>
              </a:defRPr>
            </a:pPr>
            <a:r>
              <a:t>Manifestações Neurológicas:</a:t>
            </a:r>
          </a:p>
          <a:p>
            <a:pPr>
              <a:spcAft>
                <a:spcPts val="300"/>
              </a:spcAft>
              <a:defRPr sz="1400">
                <a:solidFill>
                  <a:srgbClr val="404040"/>
                </a:solidFill>
              </a:defRPr>
            </a:pPr>
            <a:r>
              <a:t>Degeneração combinada subaguda</a:t>
            </a:r>
          </a:p>
          <a:p>
            <a:pPr>
              <a:spcAft>
                <a:spcPts val="300"/>
              </a:spcAft>
              <a:defRPr sz="1400">
                <a:solidFill>
                  <a:srgbClr val="404040"/>
                </a:solidFill>
              </a:defRPr>
            </a:pPr>
            <a:r>
              <a:t>Neuropatia sensório-motora</a:t>
            </a:r>
          </a:p>
          <a:p>
            <a:pPr>
              <a:spcAft>
                <a:spcPts val="300"/>
              </a:spcAft>
              <a:defRPr sz="1400">
                <a:solidFill>
                  <a:srgbClr val="404040"/>
                </a:solidFill>
              </a:defRPr>
            </a:pPr>
            <a:r>
              <a:t>Alterações cognitivas</a:t>
            </a:r>
          </a:p>
          <a:p>
            <a:pPr>
              <a:spcAft>
                <a:spcPts val="300"/>
              </a:spcAft>
              <a:defRPr sz="1400">
                <a:solidFill>
                  <a:srgbClr val="404040"/>
                </a:solidFill>
              </a:defRPr>
            </a:pPr>
            <a:r>
              <a:t>Pode ocorrer SEM anemia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Diagnóstico e Tratamento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93769"/>
                </a:solidFill>
              </a:defRPr>
            </a:pPr>
            <a:r>
              <a:t>Diagnóstico:</a:t>
            </a:r>
          </a:p>
          <a:p>
            <a:pPr>
              <a:spcAft>
                <a:spcPts val="300"/>
              </a:spcAft>
              <a:defRPr sz="1400">
                <a:solidFill>
                  <a:srgbClr val="404040"/>
                </a:solidFill>
              </a:defRPr>
            </a:pPr>
            <a:r>
              <a:t>B12 &lt;200 pg/mL → deficiência; 200–300 → zona cinza</a:t>
            </a:r>
          </a:p>
          <a:p>
            <a:pPr>
              <a:spcAft>
                <a:spcPts val="300"/>
              </a:spcAft>
              <a:defRPr sz="1400">
                <a:solidFill>
                  <a:srgbClr val="404040"/>
                </a:solidFill>
              </a:defRPr>
            </a:pPr>
            <a:r>
              <a:t>Confirmar: MMA/Homocisteína ↑ (exceto DRC)</a:t>
            </a:r>
          </a:p>
          <a:p>
            <a:pPr>
              <a:spcAft>
                <a:spcPts val="300"/>
              </a:spcAft>
              <a:defRPr sz="1400">
                <a:solidFill>
                  <a:srgbClr val="404040"/>
                </a:solidFill>
              </a:defRPr>
            </a:pPr>
            <a:r>
              <a:t>Etiologia: PA (AIFA/APCA; gastrina ↑, pepsinogênio I ↓); dieta/fármacos; cirurgia</a:t>
            </a:r>
          </a:p>
          <a:p>
            <a:br/>
            <a:pPr>
              <a:spcAft>
                <a:spcPts val="300"/>
              </a:spcAft>
              <a:defRPr sz="1800" b="1">
                <a:solidFill>
                  <a:srgbClr val="193769"/>
                </a:solidFill>
              </a:defRPr>
            </a:pPr>
            <a:r>
              <a:t>Tratamento:</a:t>
            </a:r>
          </a:p>
          <a:p>
            <a:pPr>
              <a:spcAft>
                <a:spcPts val="200"/>
              </a:spcAft>
              <a:defRPr sz="1500" b="1">
                <a:solidFill>
                  <a:srgbClr val="336699"/>
                </a:solidFill>
              </a:defRPr>
            </a:pPr>
            <a:r>
              <a:t>Com neuro / má absorção:</a:t>
            </a:r>
          </a:p>
          <a:p>
            <a:pPr lvl="1">
              <a:spcAft>
                <a:spcPts val="500"/>
              </a:spcAft>
              <a:defRPr sz="1400">
                <a:solidFill>
                  <a:srgbClr val="404040"/>
                </a:solidFill>
              </a:defRPr>
            </a:pPr>
            <a:r>
              <a:t>B12 IM 1 mg/dia × 7d → semanal × 4 → mensal (manutenção se causa persistente)</a:t>
            </a:r>
          </a:p>
          <a:p>
            <a:pPr>
              <a:spcAft>
                <a:spcPts val="200"/>
              </a:spcAft>
              <a:defRPr sz="1500" b="1">
                <a:solidFill>
                  <a:srgbClr val="336699"/>
                </a:solidFill>
              </a:defRPr>
            </a:pPr>
            <a:r>
              <a:t>Casos leves / absorção preservada:</a:t>
            </a:r>
          </a:p>
          <a:p>
            <a:pPr lvl="1">
              <a:spcAft>
                <a:spcPts val="500"/>
              </a:spcAft>
              <a:defRPr sz="1400">
                <a:solidFill>
                  <a:srgbClr val="404040"/>
                </a:solidFill>
              </a:defRPr>
            </a:pPr>
            <a:r>
              <a:t>B12 VO 1–2 mg/dia — eficácia semelhante se adesão boa; reavaliar em 3–6m</a:t>
            </a:r>
          </a:p>
          <a:p>
            <a:pPr>
              <a:spcAft>
                <a:spcPts val="200"/>
              </a:spcAft>
              <a:defRPr sz="1500" b="1">
                <a:solidFill>
                  <a:srgbClr val="336699"/>
                </a:solidFill>
              </a:defRPr>
            </a:pPr>
            <a:r>
              <a:t>Metformina:</a:t>
            </a:r>
          </a:p>
          <a:p>
            <a:pPr lvl="1">
              <a:defRPr sz="1400">
                <a:solidFill>
                  <a:srgbClr val="404040"/>
                </a:solidFill>
              </a:defRPr>
            </a:pPr>
            <a:r>
              <a:t>Após 4–5 anos: monitorar B12 periodicamente; suplementar mantendo metformina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1. Vitamin B12 Deficiency in Adults: A Comprehensive Review (2010–2025)</a:t>
            </a:r>
          </a:p>
          <a:p>
            <a:pPr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2. NIH Office of Dietary Supplements — Vitamin B12 (2024)</a:t>
            </a:r>
          </a:p>
          <a:p>
            <a:pPr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3. British Society for Haematology — Guideline for Investigation and Management of B12 Deficiency</a:t>
            </a:r>
          </a:p>
          <a:p>
            <a:pPr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4. ADA Standards of Care (2023) — Metformina &amp; Monitorização de B12</a:t>
            </a:r>
          </a:p>
          <a:p>
            <a:pPr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5. Harrison's Principles of Internal Medicine, 21ª Edição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