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80137" y="922139"/>
            <a:ext cx="33837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RESIDÊNCIA R3 • MEDICINA INTERNA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770837" y="1451670"/>
            <a:ext cx="3602325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GRADE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32961" y="2259360"/>
            <a:ext cx="40779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Teoria à Leitura Crítica de Diretrizes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00500" y="3112740"/>
            <a:ext cx="1143000" cy="1905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88452" y="3665190"/>
            <a:ext cx="2767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Caso-modelo: Síndrome Coronariana Crônica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86069" y="4080421"/>
            <a:ext cx="1771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2024 | SBC 2025 | AHA 2023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6479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Dilema da Colchicina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1713012"/>
            <a:ext cx="4252913" cy="2201168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2413" y="1713012"/>
            <a:ext cx="0" cy="2201168"/>
          </a:xfrm>
          <a:prstGeom prst="line">
            <a:avLst/>
          </a:prstGeom>
          <a:noFill/>
          <a:ln w="47625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4825" y="1941612"/>
            <a:ext cx="382304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1200"/>
              </a:spcAft>
              <a:buNone/>
            </a:pPr>
            <a:r>
              <a:rPr lang="en-US" sz="11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Homem, 62 anos, 2 anos pós-IAM.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04825" y="2460724"/>
            <a:ext cx="382304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1200"/>
              </a:spcAft>
              <a:buNone/>
            </a:pPr>
            <a:r>
              <a:rPr lang="en-US" sz="11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uso de AAS, atorvastatina 80mg, enalapril.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04825" y="2979837"/>
            <a:ext cx="382304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1200"/>
              </a:spcAft>
              <a:buNone/>
            </a:pPr>
            <a:r>
              <a:rPr lang="en-US" sz="11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48 mg/dL, PA controlada, assintomático.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04825" y="3498949"/>
            <a:ext cx="38230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pergunta: "E a colchicina?"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10113" y="1823145"/>
            <a:ext cx="4205288" cy="1981051"/>
          </a:xfrm>
          <a:prstGeom prst="roundRect">
            <a:avLst>
              <a:gd name="adj" fmla="val 384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38713" y="2051745"/>
            <a:ext cx="3823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2024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38713" y="2465040"/>
            <a:ext cx="38230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1500"/>
              </a:spcAft>
              <a:buNone/>
            </a:pPr>
            <a:r>
              <a:rPr lang="en-US" sz="11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"Low-dose colchicine (0.5 mg daily) should be considered to reduce MI, stroke, and revascularization."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938713" y="3236565"/>
            <a:ext cx="920204" cy="339030"/>
          </a:xfrm>
          <a:prstGeom prst="roundRect">
            <a:avLst>
              <a:gd name="adj" fmla="val 11238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91113" y="3312765"/>
            <a:ext cx="6277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73217" y="3236565"/>
            <a:ext cx="752029" cy="339030"/>
          </a:xfrm>
          <a:prstGeom prst="roundRect">
            <a:avLst>
              <a:gd name="adj" fmla="val 11238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25617" y="3312765"/>
            <a:ext cx="4561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Guidelines 2024. Eur Heart J. 2024;45:3415-3537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0692" y="1073646"/>
            <a:ext cx="56624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INCOMODA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40692" y="1542157"/>
            <a:ext cx="5662467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spcAft>
                <a:spcPts val="3000"/>
              </a:spcAft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IIa e não I,</a:t>
            </a:r>
            <a:endParaRPr lang="en-US" sz="3300" dirty="0"/>
          </a:p>
          <a:p>
            <a:pPr algn="ctr" indent="0" marL="0">
              <a:lnSpc>
                <a:spcPts val="4290"/>
              </a:lnSpc>
              <a:spcAft>
                <a:spcPts val="3000"/>
              </a:spcAft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nível de evidência é A?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190851" y="3012579"/>
            <a:ext cx="762000" cy="28575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0692" y="3422154"/>
            <a:ext cx="5662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 = múltiplos RCTs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40692" y="3803154"/>
            <a:ext cx="5662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 por que não é recomendação forte?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CENTRAL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64790"/>
            <a:ext cx="7102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mais comum na leitura de diretrizes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63229" y="1627882"/>
            <a:ext cx="1700510" cy="986730"/>
          </a:xfrm>
          <a:prstGeom prst="roundRect">
            <a:avLst>
              <a:gd name="adj" fmla="val 77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57120" y="1856482"/>
            <a:ext cx="11127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57120" y="2119313"/>
            <a:ext cx="1112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Evidência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89830" y="1801267"/>
            <a:ext cx="25594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71864" y="1627882"/>
            <a:ext cx="2208758" cy="986730"/>
          </a:xfrm>
          <a:prstGeom prst="roundRect">
            <a:avLst>
              <a:gd name="adj" fmla="val 77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60672" y="1856482"/>
            <a:ext cx="1631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0672" y="2119313"/>
            <a:ext cx="1631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Recomendação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82007" y="3151733"/>
            <a:ext cx="1975693" cy="1015157"/>
          </a:xfrm>
          <a:prstGeom prst="roundRect">
            <a:avLst>
              <a:gd name="adj" fmla="val 7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01057" y="3151733"/>
            <a:ext cx="0" cy="1015157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5041" y="3342233"/>
            <a:ext cx="1587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+ BAIXA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95041" y="3591669"/>
            <a:ext cx="15877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dar KCl IV em bolus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5041" y="3816400"/>
            <a:ext cx="15877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(óbvio, mas sem RCTs)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6300" y="3071813"/>
            <a:ext cx="1975693" cy="1175147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5350" y="3071813"/>
            <a:ext cx="0" cy="1175147"/>
          </a:xfrm>
          <a:prstGeom prst="line">
            <a:avLst/>
          </a:prstGeom>
          <a:noFill/>
          <a:ln w="38100">
            <a:solidFill>
              <a:srgbClr val="D69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9334" y="3262313"/>
            <a:ext cx="1587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FRACA + ALTA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99334" y="3511748"/>
            <a:ext cx="15877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Colchicina na SCC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9334" y="3736479"/>
            <a:ext cx="15877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RCTs, mas balanço apertado)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Pilares do GRADE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030039"/>
            <a:ext cx="4248150" cy="3693021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1053852"/>
            <a:ext cx="4248150" cy="0"/>
          </a:xfrm>
          <a:prstGeom prst="line">
            <a:avLst/>
          </a:prstGeom>
          <a:noFill/>
          <a:ln w="47625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06264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94855"/>
            <a:ext cx="386676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da Evidência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" y="2292995"/>
            <a:ext cx="3790950" cy="575072"/>
          </a:xfrm>
          <a:prstGeom prst="roundRect">
            <a:avLst>
              <a:gd name="adj" fmla="val 9938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407295"/>
            <a:ext cx="36335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"Quão confiante estou de que a estimativa de efeito está correta?"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57200" y="317286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Alta: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Improvável que mude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57200" y="3555653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Moderada: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Pode mudar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57200" y="3938439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Baixa:</a:t>
            </a:r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Provavelmente mudará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57200" y="4321225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baixa: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incerta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67250" y="1138386"/>
            <a:ext cx="4248150" cy="3476179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0" y="1162199"/>
            <a:ext cx="4248150" cy="0"/>
          </a:xfrm>
          <a:prstGeom prst="line">
            <a:avLst/>
          </a:prstGeom>
          <a:noFill/>
          <a:ln w="47625">
            <a:solidFill>
              <a:srgbClr val="D69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5850" y="141461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5850" y="1803202"/>
            <a:ext cx="386676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da Recomendação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895850" y="2401342"/>
            <a:ext cx="3790950" cy="401836"/>
          </a:xfrm>
          <a:prstGeom prst="roundRect">
            <a:avLst>
              <a:gd name="adj" fmla="val 14222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10150" y="2515642"/>
            <a:ext cx="3633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"Quão confiante estou de que os benefícios superam os riscos?"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95850" y="310797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Forte:</a:t>
            </a:r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"Faça para (quase) todos"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95850" y="354791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Fraca: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"Considere, depende do paciente"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4895850" y="4068812"/>
            <a:ext cx="3790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5850" y="4225975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de: balanço benefício-dano, valores do paciente, recursos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2567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 Domínios que Diminuem a Qualidade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RCT começa como "Alta" → avalie cada domínio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101030"/>
            <a:ext cx="1638300" cy="3375720"/>
          </a:xfrm>
          <a:prstGeom prst="roundRect">
            <a:avLst>
              <a:gd name="adj" fmla="val 465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0443" y="21469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0591" y="2855565"/>
            <a:ext cx="8343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Bias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32791" y="3284190"/>
            <a:ext cx="12297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metodológicas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981200" y="1101030"/>
            <a:ext cx="1638300" cy="3375720"/>
          </a:xfrm>
          <a:prstGeom prst="roundRect">
            <a:avLst>
              <a:gd name="adj" fmla="val 465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03043" y="21469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314273" y="2855565"/>
            <a:ext cx="9720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390326" y="3284190"/>
            <a:ext cx="820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733800" y="1101030"/>
            <a:ext cx="1676400" cy="3375720"/>
          </a:xfrm>
          <a:prstGeom prst="roundRect">
            <a:avLst>
              <a:gd name="adj" fmla="val 4545"/>
            </a:avLst>
          </a:prstGeom>
          <a:solidFill>
            <a:srgbClr val="D69E2E">
              <a:alpha val="30000"/>
            </a:srgbClr>
          </a:solidFill>
          <a:ln w="19050">
            <a:solidFill>
              <a:srgbClr val="D69E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74693" y="21469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142696" y="2855565"/>
            <a:ext cx="8586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Indirectness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057991" y="3284190"/>
            <a:ext cx="10278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CC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mais negligenciado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524500" y="1101030"/>
            <a:ext cx="1638300" cy="3375720"/>
          </a:xfrm>
          <a:prstGeom prst="roundRect">
            <a:avLst>
              <a:gd name="adj" fmla="val 465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6343" y="21469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934538" y="2855565"/>
            <a:ext cx="818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Imprecision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129757" y="3284190"/>
            <a:ext cx="427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amplo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277100" y="1101030"/>
            <a:ext cx="1638300" cy="3375720"/>
          </a:xfrm>
          <a:prstGeom prst="roundRect">
            <a:avLst>
              <a:gd name="adj" fmla="val 465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98943" y="21469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529261" y="2855565"/>
            <a:ext cx="1133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Bias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648578" y="3284190"/>
            <a:ext cx="8953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 de publicação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19100" y="4705350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Guyatt GH et al. BMJ. 2008;336:924-926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Bias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886248"/>
            <a:ext cx="3987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avaliar: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2339578"/>
            <a:ext cx="3908971" cy="1725216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491978"/>
            <a:ext cx="36762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Randomização adequada?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741414"/>
            <a:ext cx="36762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Alocação oculta?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990850"/>
            <a:ext cx="36762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Cegamento (participantes, desfechos)?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240286"/>
            <a:ext cx="36762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Perdas de seguimento?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489722"/>
            <a:ext cx="36762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Análise por ITT?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739158"/>
            <a:ext cx="36762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Interrupção precoce?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328071" y="1945184"/>
            <a:ext cx="46790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ISCHEMIA trial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28071" y="2398514"/>
            <a:ext cx="4587329" cy="1607493"/>
          </a:xfrm>
          <a:prstGeom prst="roundRect">
            <a:avLst>
              <a:gd name="adj" fmla="val 474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18571" y="2589014"/>
            <a:ext cx="1006376" cy="222796"/>
          </a:xfrm>
          <a:prstGeom prst="roundRect">
            <a:avLst>
              <a:gd name="adj" fmla="val 17101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13821" y="2627114"/>
            <a:ext cx="8321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Randomização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601146" y="2589014"/>
            <a:ext cx="464641" cy="222796"/>
          </a:xfrm>
          <a:prstGeom prst="roundRect">
            <a:avLst>
              <a:gd name="adj" fmla="val 17101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96396" y="2627114"/>
            <a:ext cx="2796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ITT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18571" y="2926110"/>
            <a:ext cx="1647379" cy="222796"/>
          </a:xfrm>
          <a:prstGeom prst="roundRect">
            <a:avLst>
              <a:gd name="adj" fmla="val 17101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3821" y="2964210"/>
            <a:ext cx="14860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Sem cegamento intervenção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42149" y="2926110"/>
            <a:ext cx="1111151" cy="222796"/>
          </a:xfrm>
          <a:prstGeom prst="roundRect">
            <a:avLst>
              <a:gd name="adj" fmla="val 17101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37399" y="2964210"/>
            <a:ext cx="939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Desfechos cegos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4518571" y="3306068"/>
            <a:ext cx="4206329" cy="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8571" y="3425130"/>
            <a:ext cx="42904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Downgrade parcial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518571" y="3655516"/>
            <a:ext cx="42904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Cegamento impossível (cirurgia), mas comitê adjudicador cego mitiga viés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4449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 — Heterogeneidade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2005161"/>
            <a:ext cx="35441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fazer downgrade: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2406997"/>
            <a:ext cx="3474690" cy="986433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2521297"/>
            <a:ext cx="3311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Resultados em direções opostas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42900" y="2725043"/>
            <a:ext cx="3311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I² alto (&gt;50-75%)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42900" y="2928789"/>
            <a:ext cx="3311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IC não se sobrepõem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42900" y="3132534"/>
            <a:ext cx="3311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Heterogeneidade inexplicada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28600" y="3641080"/>
            <a:ext cx="3474690" cy="28575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4800" y="3717280"/>
            <a:ext cx="3388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Pergunta-chave: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estudos apontam para a mesma direção?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55690" y="1749772"/>
            <a:ext cx="51609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Visualizando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55690" y="2151608"/>
            <a:ext cx="5059710" cy="2030611"/>
          </a:xfrm>
          <a:prstGeom prst="roundRect">
            <a:avLst>
              <a:gd name="adj" fmla="val 375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89040" y="2284958"/>
            <a:ext cx="488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SEM Inconsistency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89040" y="2475458"/>
            <a:ext cx="4793010" cy="634305"/>
          </a:xfrm>
          <a:prstGeom prst="roundRect">
            <a:avLst>
              <a:gd name="adj" fmla="val 600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65240" y="2551658"/>
            <a:ext cx="4733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COLCOT → favorece colchicina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65240" y="2723108"/>
            <a:ext cx="4733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LoDoCo2 → favorece colchicina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65240" y="2913608"/>
            <a:ext cx="47334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direção = sem downgrade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989040" y="3224064"/>
            <a:ext cx="488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COM Inconsistency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89040" y="3414564"/>
            <a:ext cx="4793010" cy="634305"/>
          </a:xfrm>
          <a:prstGeom prst="roundRect">
            <a:avLst>
              <a:gd name="adj" fmla="val 600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65240" y="3490764"/>
            <a:ext cx="4733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A → favorece tratamento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65240" y="3662214"/>
            <a:ext cx="4733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B → favorece placebo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65240" y="3852714"/>
            <a:ext cx="47334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Direções opostas = downgrade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7170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1717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Indirectness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026295" y="349597"/>
            <a:ext cx="1311622" cy="260896"/>
          </a:xfrm>
          <a:prstGeom prst="roundRect">
            <a:avLst>
              <a:gd name="adj" fmla="val 14604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40595" y="406747"/>
            <a:ext cx="11046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mais negligenciado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28600" y="2107109"/>
            <a:ext cx="35441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sempre: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" y="2560439"/>
            <a:ext cx="3474690" cy="1283494"/>
          </a:xfrm>
          <a:prstGeom prst="roundRect">
            <a:avLst>
              <a:gd name="adj" fmla="val 5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2712839"/>
            <a:ext cx="32332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paciente do estudo é o meu?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981325"/>
            <a:ext cx="32332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Intervenção:</a:t>
            </a:r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Mesma dose, via, duração?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1000" y="3249811"/>
            <a:ext cx="32332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Placebo ou tratamento ativo?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518297"/>
            <a:ext cx="32332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Desfecho: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 endpoint ou surrogate?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93790" y="1747838"/>
            <a:ext cx="51220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Modelos europeus no Brasil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93790" y="2201168"/>
            <a:ext cx="5021610" cy="2002036"/>
          </a:xfrm>
          <a:prstGeom prst="roundRect">
            <a:avLst>
              <a:gd name="adj" fmla="val 380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84290" y="2391668"/>
            <a:ext cx="47334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diretriz ESC 2024 usa o modelo RF-CL baseado em registros europeus para calcular probabilidade pré-teste.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084290" y="2915543"/>
            <a:ext cx="4640610" cy="784771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03340" y="2915543"/>
            <a:ext cx="0" cy="784771"/>
          </a:xfrm>
          <a:prstGeom prst="line">
            <a:avLst/>
          </a:prstGeom>
          <a:noFill/>
          <a:ln w="38100">
            <a:solidFill>
              <a:srgbClr val="D69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6690" y="3029843"/>
            <a:ext cx="44613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CC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 2025 reconhece: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36690" y="3266033"/>
            <a:ext cx="446138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"Clinical judgment complements mathematical models when uncertainty or unmodeled scenarios exist. Important in heterogeneous health systems such as Brazil."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84290" y="3852714"/>
            <a:ext cx="47334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Pacientes com Chagas não estão nos modelos europeus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Imprecision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555552"/>
            <a:ext cx="310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pergunta-chave: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2008882"/>
            <a:ext cx="3040261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161282"/>
            <a:ext cx="27901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intervalo de confiança cruza o limiar de decisão clínica?"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" y="3018532"/>
            <a:ext cx="310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IC estreito = precisão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28600" y="3401318"/>
            <a:ext cx="310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IC cruza RR 1.0 = incerto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28600" y="3784104"/>
            <a:ext cx="310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&lt;300 eventos = preocupante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459361" y="1464171"/>
            <a:ext cx="55651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ISCHEMIA trial — Desfecho primário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9361" y="1917502"/>
            <a:ext cx="5456039" cy="2131368"/>
          </a:xfrm>
          <a:prstGeom prst="roundRect">
            <a:avLst>
              <a:gd name="adj" fmla="val 357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25438" y="2108002"/>
            <a:ext cx="2491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INVASIVO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625438" y="2292697"/>
            <a:ext cx="24911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58208" y="2108002"/>
            <a:ext cx="2491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CONSERVADOR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258208" y="2292697"/>
            <a:ext cx="24911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649861" y="2856458"/>
            <a:ext cx="5075039" cy="689521"/>
          </a:xfrm>
          <a:prstGeom prst="roundRect">
            <a:avLst>
              <a:gd name="adj" fmla="val 8288"/>
            </a:avLst>
          </a:prstGeom>
          <a:solidFill>
            <a:srgbClr val="E53E3E">
              <a:alpha val="20000"/>
            </a:srgbClr>
          </a:solidFill>
          <a:ln w="19050">
            <a:solidFill>
              <a:srgbClr val="E53E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35128" y="2989808"/>
            <a:ext cx="49045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0.93 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(IC 95%: 0.80 — 1.08)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35128" y="3252639"/>
            <a:ext cx="4904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IC cruza 1.0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99111" y="3698379"/>
            <a:ext cx="51765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podemos afirmar que revascularização reduz desfechos duros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9100" y="4705350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Maron DJ et al. N Engl J Med. 2020;382:1395-1407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2276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Bias — O que não foi publicado?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944291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problema: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2365177"/>
            <a:ext cx="3908971" cy="1641723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2498527"/>
            <a:ext cx="3715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negativos são menos publicados. O corpo de evidência disponível pode superestimar o benefício real.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1950" y="2936677"/>
            <a:ext cx="3715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suspeitar: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1950" y="3172867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Poucos estudos pequenos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1950" y="3357563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Todos positivos (improvável)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1950" y="3542258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Conflito de interesse forte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61950" y="3726954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Funnel plot assimétrico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328071" y="1523107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Plot — Detectando o viés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328071" y="1943993"/>
            <a:ext cx="4587329" cy="1880146"/>
          </a:xfrm>
          <a:prstGeom prst="roundRect">
            <a:avLst>
              <a:gd name="adj" fmla="val 405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59819" y="2096393"/>
            <a:ext cx="210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Sem viés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480471" y="2319189"/>
            <a:ext cx="2065139" cy="1143000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86168" y="2395389"/>
            <a:ext cx="453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↑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32089" y="3252639"/>
            <a:ext cx="361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→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03540" y="2662089"/>
            <a:ext cx="0" cy="762000"/>
          </a:xfrm>
          <a:prstGeom prst="line">
            <a:avLst/>
          </a:prstGeom>
          <a:noFill/>
          <a:ln w="3810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2040" y="3043089"/>
            <a:ext cx="762000" cy="0"/>
          </a:xfrm>
          <a:prstGeom prst="line">
            <a:avLst/>
          </a:prstGeom>
          <a:noFill/>
          <a:ln w="762000">
            <a:solidFill>
              <a:srgbClr val="38A1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22540" y="2662089"/>
            <a:ext cx="0" cy="762000"/>
          </a:xfrm>
          <a:prstGeom prst="line">
            <a:avLst/>
          </a:prstGeom>
          <a:noFill/>
          <a:ln w="3810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9819" y="3538389"/>
            <a:ext cx="2106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simétrica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677358" y="2096393"/>
            <a:ext cx="210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Com viés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698010" y="2319189"/>
            <a:ext cx="2065139" cy="1143000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03707" y="2395389"/>
            <a:ext cx="453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↑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49628" y="3252639"/>
            <a:ext cx="361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→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825829" y="2662089"/>
            <a:ext cx="0" cy="762000"/>
          </a:xfrm>
          <a:prstGeom prst="line">
            <a:avLst/>
          </a:prstGeom>
          <a:noFill/>
          <a:ln w="5715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49579" y="3043089"/>
            <a:ext cx="762000" cy="0"/>
          </a:xfrm>
          <a:prstGeom prst="line">
            <a:avLst/>
          </a:prstGeom>
          <a:noFill/>
          <a:ln w="762000">
            <a:solidFill>
              <a:srgbClr val="E53E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4829" y="2662089"/>
            <a:ext cx="0" cy="762000"/>
          </a:xfrm>
          <a:prstGeom prst="line">
            <a:avLst/>
          </a:prstGeom>
          <a:noFill/>
          <a:ln w="1905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7358" y="3538389"/>
            <a:ext cx="2106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Faltam estudos negativos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28071" y="4090839"/>
            <a:ext cx="4587329" cy="337096"/>
          </a:xfrm>
          <a:prstGeom prst="roundRect">
            <a:avLst>
              <a:gd name="adj" fmla="val 16954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23321" y="4186089"/>
            <a:ext cx="44847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Colchicina: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Improvável viés — trials grandes, registrados, patrocinados por agências públicas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ESPECIAL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78209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Estudos Observacionais Podem Subir de Qualidade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542157"/>
            <a:ext cx="2793950" cy="2268587"/>
          </a:xfrm>
          <a:prstGeom prst="roundRect">
            <a:avLst>
              <a:gd name="adj" fmla="val 335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79008" y="1732657"/>
            <a:ext cx="29313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79420" y="2441228"/>
            <a:ext cx="12921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Muito Grande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46293" y="2894558"/>
            <a:ext cx="7584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&gt;2 ou &lt;0.5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937" y="3321248"/>
            <a:ext cx="1787128" cy="298996"/>
          </a:xfrm>
          <a:prstGeom prst="roundRect">
            <a:avLst>
              <a:gd name="adj" fmla="val 12743"/>
            </a:avLst>
          </a:prstGeom>
          <a:solidFill>
            <a:srgbClr val="38A1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1789" y="3397448"/>
            <a:ext cx="16674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Tabagismo e câncer de pulmão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174950" y="1542157"/>
            <a:ext cx="2793950" cy="2268587"/>
          </a:xfrm>
          <a:prstGeom prst="roundRect">
            <a:avLst>
              <a:gd name="adj" fmla="val 335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53706" y="1732657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740415" y="2441228"/>
            <a:ext cx="1663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Gradiente Dose-Resposta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21784" y="2894558"/>
            <a:ext cx="1500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exposição = mais efeito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29050" y="3321248"/>
            <a:ext cx="1485751" cy="298996"/>
          </a:xfrm>
          <a:prstGeom prst="roundRect">
            <a:avLst>
              <a:gd name="adj" fmla="val 12743"/>
            </a:avLst>
          </a:prstGeom>
          <a:solidFill>
            <a:srgbClr val="38A1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91916" y="3397448"/>
            <a:ext cx="1360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Cigarros/dia vs. risco CV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121301" y="1448842"/>
            <a:ext cx="2793950" cy="2455218"/>
          </a:xfrm>
          <a:prstGeom prst="roundRect">
            <a:avLst>
              <a:gd name="adj" fmla="val 31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00057" y="1639342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13483" y="2347913"/>
            <a:ext cx="160958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Confundimento Residual</a:t>
            </a:r>
            <a:endParaRPr lang="en-US" sz="1050" dirty="0"/>
          </a:p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Subestima o Efeito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80924" y="2987873"/>
            <a:ext cx="12747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 vai contra o achado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02475" y="3414564"/>
            <a:ext cx="1631603" cy="298996"/>
          </a:xfrm>
          <a:prstGeom prst="roundRect">
            <a:avLst>
              <a:gd name="adj" fmla="val 12743"/>
            </a:avLst>
          </a:prstGeom>
          <a:solidFill>
            <a:srgbClr val="38A1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63883" y="3490764"/>
            <a:ext cx="1508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real provavelmente maior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28600" y="4564410"/>
            <a:ext cx="8686800" cy="350490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47650" y="4564410"/>
            <a:ext cx="0" cy="350490"/>
          </a:xfrm>
          <a:prstGeom prst="line">
            <a:avLst/>
          </a:prstGeom>
          <a:noFill/>
          <a:ln w="38100">
            <a:solidFill>
              <a:srgbClr val="D69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950" y="4659660"/>
            <a:ext cx="8627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Estudos observacionais começam como "Baixa" qualidade. Upgrade é exceção, não regra.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vs. Sistema ESC/AHA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59055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as diretrizes cardiológicas não são GRADE formal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683246"/>
            <a:ext cx="2057400" cy="1399877"/>
          </a:xfrm>
          <a:prstGeom prst="roundRect">
            <a:avLst>
              <a:gd name="adj" fmla="val 54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1683246"/>
            <a:ext cx="0" cy="1399877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3746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57200" y="2123182"/>
            <a:ext cx="16710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"Nível A" ≠ Qualidade Alta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572643"/>
            <a:ext cx="16710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RCTs ruins continuam sendo evidência ruim.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400" y="1776561"/>
            <a:ext cx="2057400" cy="1213247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57450" y="1776561"/>
            <a:ext cx="0" cy="1213247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7000" y="1967061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2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667000" y="2216497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avaliação formal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67000" y="2479328"/>
            <a:ext cx="16710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checklist de risk of bias, indirectness, etc.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8200" y="1776561"/>
            <a:ext cx="2057400" cy="1213247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0" y="1776561"/>
            <a:ext cx="0" cy="1213247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800" y="1967061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76800" y="2216497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mistura conceitos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6800" y="2479328"/>
            <a:ext cx="16710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"Classe I Nível C" = forte com evidência fraquíssima.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776561"/>
            <a:ext cx="2057400" cy="1213247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77050" y="1776561"/>
            <a:ext cx="0" cy="1213247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967061"/>
            <a:ext cx="1671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086600" y="2216497"/>
            <a:ext cx="16710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transparência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2479328"/>
            <a:ext cx="16710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sabe </a:t>
            </a:r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 é IIa vs. I.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" y="3989189"/>
            <a:ext cx="4248150" cy="925711"/>
          </a:xfrm>
          <a:prstGeom prst="roundRect">
            <a:avLst>
              <a:gd name="adj" fmla="val 823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1567" y="4141589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ESC/AHA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1567" y="4358729"/>
            <a:ext cx="4022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I, Nível A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41567" y="4615904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significa exatamente?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67250" y="3989189"/>
            <a:ext cx="4248150" cy="925711"/>
          </a:xfrm>
          <a:prstGeom prst="roundRect">
            <a:avLst>
              <a:gd name="adj" fmla="val 823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0217" y="4141589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80217" y="4358729"/>
            <a:ext cx="4022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⊕⊕⊕⊕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780217" y="4615904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documentado, transparente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7754" y="443954"/>
            <a:ext cx="23883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FANAROFF ET AL. JAMA 2019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315970" y="935385"/>
            <a:ext cx="251191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2777974" y="2192685"/>
            <a:ext cx="35879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200"/>
              </a:spcBef>
              <a:buNone/>
            </a:pPr>
            <a:r>
              <a:rPr lang="en-US" sz="16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recomendações ACC/AHA e ESC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086743" y="2714625"/>
            <a:ext cx="297051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</a:t>
            </a:r>
            <a:pPr algn="ctr" indent="0" marL="0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C</a:t>
            </a:r>
            <a:pPr algn="ctr" indent="0" marL="0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(opinião de expert)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095750" y="3388965"/>
            <a:ext cx="952500" cy="1905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6387" y="3789015"/>
            <a:ext cx="89868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8-14%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36387" y="4253805"/>
            <a:ext cx="8986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I, Nível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93344" y="3789015"/>
            <a:ext cx="141937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93344" y="4253805"/>
            <a:ext cx="14193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analisadas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800" y="47053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Fanaroff AC et al. JAMA. 2019;321(11):1069-1080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EM DETALHE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75392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COLCOT — Colchicine Cardiovascular Outcomes Trial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459409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do Estudo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1880295"/>
            <a:ext cx="3908971" cy="1645741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03269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4.745 pacientes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26888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IAM recente (&lt;30 dias)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0507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Colchicina 0.5mg/dia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74126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Placebo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97745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22.6 meses (mediana)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213646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Desfecho 1°: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MACE composto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792736"/>
            <a:ext cx="3908971" cy="337096"/>
          </a:xfrm>
          <a:prstGeom prst="roundRect">
            <a:avLst>
              <a:gd name="adj" fmla="val 16954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850" y="3887986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Duplo-cego, ITT, baixo risco de viés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328071" y="1455539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Principais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28071" y="1876425"/>
            <a:ext cx="4587329" cy="2257127"/>
          </a:xfrm>
          <a:prstGeom prst="roundRect">
            <a:avLst>
              <a:gd name="adj" fmla="val 337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0471" y="2028825"/>
            <a:ext cx="2065139" cy="733276"/>
          </a:xfrm>
          <a:prstGeom prst="roundRect">
            <a:avLst>
              <a:gd name="adj" fmla="val 77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6405" y="2143125"/>
            <a:ext cx="187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COLCHICINA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76405" y="2327821"/>
            <a:ext cx="18732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8010" y="2028825"/>
            <a:ext cx="2065139" cy="733276"/>
          </a:xfrm>
          <a:prstGeom prst="roundRect">
            <a:avLst>
              <a:gd name="adj" fmla="val 77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3944" y="2143125"/>
            <a:ext cx="187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793944" y="2327821"/>
            <a:ext cx="18732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80471" y="2914501"/>
            <a:ext cx="4282529" cy="377130"/>
          </a:xfrm>
          <a:prstGeom prst="roundRect">
            <a:avLst>
              <a:gd name="adj" fmla="val 15154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4800" y="3009751"/>
            <a:ext cx="41738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0.77 (IC 95%: 0.61 — 0.96) p=0.02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471" y="3405932"/>
            <a:ext cx="436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clínica: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471" y="3623072"/>
            <a:ext cx="436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NNT = 62 em 2 anos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471" y="3821162"/>
            <a:ext cx="436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= 1.6%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Tardif JC et al. N Engl J Med. 2019;381:2497-2505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EM DETALHE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49451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LoDoCo2 — Low-Dose Colchicine 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459409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do Estudo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1880295"/>
            <a:ext cx="3908971" cy="1645741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03269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5.522 pacientes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26888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DAC crônica estável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0507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Colchicina 0.5mg/dia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74126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Placebo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977455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28.6 meses (mediana)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213646"/>
            <a:ext cx="36762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Desfecho 1°: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MACE composto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792736"/>
            <a:ext cx="3908971" cy="337096"/>
          </a:xfrm>
          <a:prstGeom prst="roundRect">
            <a:avLst>
              <a:gd name="adj" fmla="val 16954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850" y="3887986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 do COLCOT: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DAC crônica, não pós-IAM agudo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328071" y="1455539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Principais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28071" y="1876425"/>
            <a:ext cx="4587329" cy="2257127"/>
          </a:xfrm>
          <a:prstGeom prst="roundRect">
            <a:avLst>
              <a:gd name="adj" fmla="val 337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0471" y="2028825"/>
            <a:ext cx="2065139" cy="733276"/>
          </a:xfrm>
          <a:prstGeom prst="roundRect">
            <a:avLst>
              <a:gd name="adj" fmla="val 77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6405" y="2143125"/>
            <a:ext cx="187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COLCHICINA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76405" y="2327821"/>
            <a:ext cx="18732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8010" y="2028825"/>
            <a:ext cx="2065139" cy="733276"/>
          </a:xfrm>
          <a:prstGeom prst="roundRect">
            <a:avLst>
              <a:gd name="adj" fmla="val 77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3944" y="2143125"/>
            <a:ext cx="187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793944" y="2327821"/>
            <a:ext cx="18732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80471" y="2914501"/>
            <a:ext cx="4282529" cy="377130"/>
          </a:xfrm>
          <a:prstGeom prst="roundRect">
            <a:avLst>
              <a:gd name="adj" fmla="val 15154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4800" y="3009751"/>
            <a:ext cx="41738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0.69 (IC 95%: 0.57 — 0.83) p&lt;0.001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471" y="3405932"/>
            <a:ext cx="436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clínica: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471" y="3623072"/>
            <a:ext cx="436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NNT = 36 em 2.4 anos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471" y="3821162"/>
            <a:ext cx="436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= 2.8%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Nidorf SM et al. N Engl J Med. 2020;383:1838-1847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COMPARATIVA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412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COLCOT vs LoDoCo2 — Avaliando Inconsistency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449735"/>
            <a:ext cx="8686800" cy="2179141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449735"/>
            <a:ext cx="8686800" cy="38859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56403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73462" y="1449735"/>
            <a:ext cx="0" cy="38859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0625" y="156403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COLCOT (2019)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3087" y="1449735"/>
            <a:ext cx="0" cy="38859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0249" y="156403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LoDoCo2 (2020)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193578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193357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3462" y="1838325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0625" y="193357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recente (&lt;30d)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3087" y="1838325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0249" y="193357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crônica estável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2198340"/>
            <a:ext cx="8686800" cy="36001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28600" y="2553593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000" y="2293590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3462" y="2198340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0625" y="2293590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4.745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3087" y="2198340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0249" y="2293590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5.522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13608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000" y="265360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(IC 95%)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3462" y="2558355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0625" y="265360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 (0.61-0.96)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3087" y="2558355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0249" y="2653605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 (0.57-0.83)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" y="2918371"/>
            <a:ext cx="8686800" cy="360015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28600" y="3273623"/>
            <a:ext cx="8686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1000" y="3013621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NNT (2 anos)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73462" y="2918371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0625" y="3013621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3087" y="2918371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0249" y="3013621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1000" y="3373636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Diarreia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73462" y="3278386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0625" y="3373636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 vs 8.9%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3087" y="3278386"/>
            <a:ext cx="0" cy="3504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0249" y="3373636"/>
            <a:ext cx="25325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 vs 8.6%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" y="3933676"/>
            <a:ext cx="4267200" cy="548580"/>
          </a:xfrm>
          <a:prstGeom prst="roundRect">
            <a:avLst>
              <a:gd name="adj" fmla="val 10418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42900" y="4047976"/>
            <a:ext cx="41193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Sem Inconsistency: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Direção do efeito consistente. I² seria baixo. Ambos favorecem colchicina.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48200" y="4013597"/>
            <a:ext cx="4267200" cy="388590"/>
          </a:xfrm>
          <a:prstGeom prst="roundRect">
            <a:avLst>
              <a:gd name="adj" fmla="val 14707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62500" y="4127897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Mas atenção: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Populações diferentes = generalização limitada (Indirectness)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EM DETALHE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59167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ISCHEMIA — O Trial que Mudou a Cardiologia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566267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do Estudo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1987153"/>
            <a:ext cx="3908971" cy="1432024"/>
          </a:xfrm>
          <a:prstGeom prst="roundRect">
            <a:avLst>
              <a:gd name="adj" fmla="val 5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2120503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5.179 pacientes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1950" y="2324249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DAC estável + isquemia moderada-grave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61950" y="2527995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Estratégia invasiva (ICP/CRM)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1950" y="2731740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Tratamento clínico otimizado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1950" y="2935486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3.2 anos (mediana)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61950" y="3139232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Desfecho 1°: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Morte CV, IAM, hospitalização AI, IC, PCR reanimada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8600" y="3666827"/>
            <a:ext cx="3908971" cy="337096"/>
          </a:xfrm>
          <a:prstGeom prst="roundRect">
            <a:avLst>
              <a:gd name="adj" fmla="val 16954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850" y="3762077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Exclusão crítica: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Lesão de tronco CE &gt;50% (angioTC prévia)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328071" y="1424285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5 anos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28071" y="1845171"/>
            <a:ext cx="4587329" cy="2300734"/>
          </a:xfrm>
          <a:prstGeom prst="roundRect">
            <a:avLst>
              <a:gd name="adj" fmla="val 331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61421" y="1978521"/>
            <a:ext cx="2103239" cy="655290"/>
          </a:xfrm>
          <a:prstGeom prst="roundRect">
            <a:avLst>
              <a:gd name="adj" fmla="val 87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37543" y="2073771"/>
            <a:ext cx="1950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37543" y="2245221"/>
            <a:ext cx="195099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78960" y="1978521"/>
            <a:ext cx="2103239" cy="655290"/>
          </a:xfrm>
          <a:prstGeom prst="roundRect">
            <a:avLst>
              <a:gd name="adj" fmla="val 87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55082" y="2073771"/>
            <a:ext cx="1950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CONSERVADOR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755082" y="2245221"/>
            <a:ext cx="195099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461421" y="2748111"/>
            <a:ext cx="4320629" cy="548432"/>
          </a:xfrm>
          <a:prstGeom prst="roundRect">
            <a:avLst>
              <a:gd name="adj" fmla="val 10421"/>
            </a:avLst>
          </a:prstGeom>
          <a:solidFill>
            <a:srgbClr val="E53E3E">
              <a:alpha val="30000"/>
            </a:srgbClr>
          </a:solidFill>
          <a:ln w="19050">
            <a:solidFill>
              <a:srgbClr val="FC81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15369" y="2843361"/>
            <a:ext cx="42127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0.93 (IC 95%: 0.80 — 1.08)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515369" y="3054697"/>
            <a:ext cx="42127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0.34 — NÃO SIGNIFICATIVO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461421" y="3396555"/>
            <a:ext cx="4320629" cy="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1421" y="3496568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ISCHEMIA mostrou: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61421" y="3681264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Revascularização não reduz morte ou IAM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61421" y="3865959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Melhora sintomas (QoL) se angina frequente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Maron DJ et al. N Engl J Med. 2020;382:1395-1407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APLICANDO GRADE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023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ISCHEMIA — Avaliação Crítica pelos Domínios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2044154"/>
            <a:ext cx="2832050" cy="899071"/>
          </a:xfrm>
          <a:prstGeom prst="roundRect">
            <a:avLst>
              <a:gd name="adj" fmla="val 6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2058442"/>
            <a:ext cx="2832050" cy="0"/>
          </a:xfrm>
          <a:prstGeom prst="line">
            <a:avLst/>
          </a:prstGeom>
          <a:noFill/>
          <a:ln w="28575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3850" y="2167979"/>
            <a:ext cx="2694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Bias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3850" y="237172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Randomização central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3850" y="254317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ITT rigoroso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3850" y="271462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Sem cegamento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55900" y="2044154"/>
            <a:ext cx="2832050" cy="899071"/>
          </a:xfrm>
          <a:prstGeom prst="roundRect">
            <a:avLst>
              <a:gd name="adj" fmla="val 6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55900" y="2058442"/>
            <a:ext cx="2832050" cy="0"/>
          </a:xfrm>
          <a:prstGeom prst="line">
            <a:avLst/>
          </a:prstGeom>
          <a:noFill/>
          <a:ln w="28575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1150" y="2167979"/>
            <a:ext cx="2694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Imprecision ⬇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251150" y="237172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IC cruza 1.0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51150" y="254317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Inclui benefício E dano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51150" y="271462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Downgrade obrigatório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83201" y="2044154"/>
            <a:ext cx="2832050" cy="899071"/>
          </a:xfrm>
          <a:prstGeom prst="roundRect">
            <a:avLst>
              <a:gd name="adj" fmla="val 6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83201" y="2058442"/>
            <a:ext cx="2832050" cy="0"/>
          </a:xfrm>
          <a:prstGeom prst="line">
            <a:avLst/>
          </a:prstGeom>
          <a:noFill/>
          <a:ln w="28575">
            <a:solidFill>
              <a:srgbClr val="D69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8451" y="2167979"/>
            <a:ext cx="2694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Indirectness ⬇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78451" y="237172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Exclui tronco 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78451" y="254317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Exclui FE &lt;35%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78451" y="2714625"/>
            <a:ext cx="2694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Crossover 23%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8600" y="3171825"/>
            <a:ext cx="8686800" cy="678061"/>
          </a:xfrm>
          <a:prstGeom prst="roundRect">
            <a:avLst>
              <a:gd name="adj" fmla="val 112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950" y="3305175"/>
            <a:ext cx="10559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GRADE: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950" y="3503265"/>
            <a:ext cx="10559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87698" y="3345210"/>
            <a:ext cx="73382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Começou alta (RCT) → downgrade por imprecision e indirectness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587698" y="3529905"/>
            <a:ext cx="73382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Recomendação: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(IIa/IIb)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EM DETALHE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1304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 — Revascularização na ICFEr Isquêmica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668066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do Estudo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2088952"/>
            <a:ext cx="3908971" cy="1228279"/>
          </a:xfrm>
          <a:prstGeom prst="roundRect">
            <a:avLst>
              <a:gd name="adj" fmla="val 6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2222302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1.212 pacientes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1950" y="2426047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ICFEr (FE ≤35%) + DAC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61950" y="2629793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CRM + tratamento clínico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1950" y="2833539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Tratamento clínico isolado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1950" y="3037284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56 meses → extensão 10 anos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28600" y="3564880"/>
            <a:ext cx="3908971" cy="337096"/>
          </a:xfrm>
          <a:prstGeom prst="roundRect">
            <a:avLst>
              <a:gd name="adj" fmla="val 16954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850" y="3660130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Era pré-SGLT2i e pré-ARNI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328071" y="1572667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28071" y="1993553"/>
            <a:ext cx="4587329" cy="2003822"/>
          </a:xfrm>
          <a:prstGeom prst="roundRect">
            <a:avLst>
              <a:gd name="adj" fmla="val 380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61421" y="2126903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primário (56 meses):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461421" y="2330648"/>
            <a:ext cx="4320629" cy="502890"/>
          </a:xfrm>
          <a:prstGeom prst="roundRect">
            <a:avLst>
              <a:gd name="adj" fmla="val 11364"/>
            </a:avLst>
          </a:prstGeom>
          <a:solidFill>
            <a:srgbClr val="E53E3E">
              <a:alpha val="20000"/>
            </a:srgbClr>
          </a:solidFill>
          <a:ln w="9525">
            <a:solidFill>
              <a:srgbClr val="FC81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05654" y="2416373"/>
            <a:ext cx="42321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por qualquer causa: HR 0.86 (0.72-1.04)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05654" y="2614464"/>
            <a:ext cx="4232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0.12 — NÃO SIGNIFICATIVO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61421" y="2947839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STICHES — Extensão 10 anos: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461421" y="3151584"/>
            <a:ext cx="4320629" cy="483840"/>
          </a:xfrm>
          <a:prstGeom prst="roundRect">
            <a:avLst>
              <a:gd name="adj" fmla="val 11812"/>
            </a:avLst>
          </a:prstGeom>
          <a:solidFill>
            <a:srgbClr val="38A1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95938" y="3227784"/>
            <a:ext cx="42515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por qualquer causa: HR 0.84 (0.73-0.97)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95938" y="3425875"/>
            <a:ext cx="42515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0.02 — SIGNIFICATIVO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18214" y="3730675"/>
            <a:ext cx="4407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emergiu com tempo — "late divergence"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Velazquez EJ et al. N Engl J Med. 2011;364:1607-16 | STICHES: N Engl J Med. 2016;374:1511-20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EM DETALHE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305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REVIVED-BCIS2 — ICP na ICFEr: O Fim do Mito?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668066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do Estudo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2088952"/>
            <a:ext cx="3908971" cy="1228279"/>
          </a:xfrm>
          <a:prstGeom prst="roundRect">
            <a:avLst>
              <a:gd name="adj" fmla="val 6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2222302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700 pacientes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1950" y="2426047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ICFEr (FE ≤35%) + DAC extensa + viabilidade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61950" y="2629793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ICP + tratamento clínico otimizado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1950" y="2833539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Tratamento clínico otimizado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1950" y="3037284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41 meses (mediana)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28600" y="3564880"/>
            <a:ext cx="3908971" cy="337096"/>
          </a:xfrm>
          <a:prstGeom prst="roundRect">
            <a:avLst>
              <a:gd name="adj" fmla="val 16954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850" y="3660130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moderno: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91% em BB, 95% em IECA/BRA, MRA, terapia otimizada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328071" y="1605111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— Neutros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28071" y="2025997"/>
            <a:ext cx="4587329" cy="1938933"/>
          </a:xfrm>
          <a:prstGeom prst="roundRect">
            <a:avLst>
              <a:gd name="adj" fmla="val 39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61421" y="2159347"/>
            <a:ext cx="4320629" cy="778966"/>
          </a:xfrm>
          <a:prstGeom prst="roundRect">
            <a:avLst>
              <a:gd name="adj" fmla="val 7337"/>
            </a:avLst>
          </a:prstGeom>
          <a:solidFill>
            <a:srgbClr val="E53E3E">
              <a:alpha val="20000"/>
            </a:srgbClr>
          </a:solidFill>
          <a:ln w="9525">
            <a:solidFill>
              <a:srgbClr val="FC81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25085" y="2264122"/>
            <a:ext cx="41933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ou Hosp. IC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525085" y="2448818"/>
            <a:ext cx="41933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0.99 (0.78-1.27)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5085" y="2700189"/>
            <a:ext cx="41933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0.96 — NEUTRO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61421" y="3052614"/>
            <a:ext cx="1389459" cy="451396"/>
          </a:xfrm>
          <a:prstGeom prst="roundRect">
            <a:avLst>
              <a:gd name="adj" fmla="val 844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5250" y="3128814"/>
            <a:ext cx="1261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total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25250" y="3281214"/>
            <a:ext cx="1261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0.90 (NS)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927080" y="3052614"/>
            <a:ext cx="1389459" cy="451396"/>
          </a:xfrm>
          <a:prstGeom prst="roundRect">
            <a:avLst>
              <a:gd name="adj" fmla="val 844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90909" y="3128814"/>
            <a:ext cx="1261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 6m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90909" y="3281214"/>
            <a:ext cx="1261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diferença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392739" y="3052614"/>
            <a:ext cx="1389459" cy="451396"/>
          </a:xfrm>
          <a:prstGeom prst="roundRect">
            <a:avLst>
              <a:gd name="adj" fmla="val 844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6569" y="3128814"/>
            <a:ext cx="1261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QoL 12m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56569" y="3281214"/>
            <a:ext cx="1261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diferença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461421" y="3604022"/>
            <a:ext cx="4320629" cy="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8214" y="3684984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não melhorou desfechos nem qualidade de vida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Perera D et al. N Engl J Med. 2022;387:1351-1360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COMPARATIVA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52075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 vs REVIVED — CRM vs ICP na ICFEr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327100"/>
            <a:ext cx="4248150" cy="2590354"/>
          </a:xfrm>
          <a:prstGeom prst="roundRect">
            <a:avLst>
              <a:gd name="adj" fmla="val 2942"/>
            </a:avLst>
          </a:prstGeom>
          <a:solidFill>
            <a:srgbClr val="38A169">
              <a:alpha val="20000"/>
            </a:srgbClr>
          </a:solidFill>
          <a:ln w="19050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0998" y="1498550"/>
            <a:ext cx="39833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 — CRM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0050" y="1951881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Benefício em 10 anos (HR 0.84)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0050" y="2308027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Revascularização mais completa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00050" y="266417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Pode tratar lesões não tratáveis por ICP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0050" y="302031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Era pré-terapia otimizada moderna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0050" y="3433614"/>
            <a:ext cx="3905250" cy="312390"/>
          </a:xfrm>
          <a:prstGeom prst="roundRect">
            <a:avLst>
              <a:gd name="adj" fmla="val 12196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722" y="3509814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IIa (ESC 2024)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0" y="1327100"/>
            <a:ext cx="4248150" cy="2590354"/>
          </a:xfrm>
          <a:prstGeom prst="roundRect">
            <a:avLst>
              <a:gd name="adj" fmla="val 2942"/>
            </a:avLst>
          </a:prstGeom>
          <a:solidFill>
            <a:srgbClr val="E53E3E">
              <a:alpha val="20000"/>
            </a:srgbClr>
          </a:solidFill>
          <a:ln w="19050">
            <a:solidFill>
              <a:srgbClr val="E53E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9648" y="1498550"/>
            <a:ext cx="39833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REVIVED — ICP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38700" y="1951881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Sem benefício (HR 0.99)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38700" y="2308027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Nem em subgrupos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38700" y="266417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Nem em qualidade de vida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38700" y="302031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 terapia otimizada moderna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38700" y="3433614"/>
            <a:ext cx="3905250" cy="312390"/>
          </a:xfrm>
          <a:prstGeom prst="roundRect">
            <a:avLst>
              <a:gd name="adj" fmla="val 12196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7372" y="3509814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IIb (ESC 2024)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4513064"/>
            <a:ext cx="8686800" cy="401836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47650" y="4513064"/>
            <a:ext cx="0" cy="401836"/>
          </a:xfrm>
          <a:prstGeom prst="line">
            <a:avLst/>
          </a:prstGeom>
          <a:noFill/>
          <a:ln w="38100">
            <a:solidFill>
              <a:srgbClr val="D69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799" y="4627364"/>
            <a:ext cx="8588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GRADE: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Mesmo desfecho (revascularização na ICFEr), mas a </a:t>
            </a:r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 diferente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(CRM vs ICP) muda completamente o resultado.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2232" y="505867"/>
            <a:ext cx="21395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 DE PARADIGMA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860768" y="1035397"/>
            <a:ext cx="5422463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10"/>
              </a:lnSpc>
              <a:spcAft>
                <a:spcPts val="24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Beta-bloqueador na DAC estável
</a:t>
            </a:r>
            <a:pPr algn="ctr" indent="0" marL="0">
              <a:lnSpc>
                <a:spcPts val="351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pPr algn="ctr" indent="0" marL="0">
              <a:lnSpc>
                <a:spcPts val="3510"/>
              </a:lnSpc>
              <a:spcAft>
                <a:spcPts val="24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disfunção de VE?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0" y="2384078"/>
            <a:ext cx="762000" cy="28575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76401" y="2869853"/>
            <a:ext cx="13788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DOGMA CLÁSSICO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76401" y="3132683"/>
            <a:ext cx="13788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76401" y="3528864"/>
            <a:ext cx="13788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"Todo pós-IAM recebe BB"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18153" y="2959298"/>
            <a:ext cx="4663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248994" y="2869853"/>
            <a:ext cx="12170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2024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48994" y="3132683"/>
            <a:ext cx="12170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48994" y="3528864"/>
            <a:ext cx="12170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"Pode ser considerado"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5138" y="4146054"/>
            <a:ext cx="4073723" cy="491430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54188" y="4146054"/>
            <a:ext cx="0" cy="491430"/>
          </a:xfrm>
          <a:prstGeom prst="line">
            <a:avLst/>
          </a:prstGeom>
          <a:noFill/>
          <a:ln w="38100">
            <a:solidFill>
              <a:srgbClr val="D69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7192" y="4298454"/>
            <a:ext cx="37277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mudança? Indirectness severa da evidência antiga.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INDIRECTNESS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70048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Beta-bloqueador: Por que a evidência antiga não se aplica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578620"/>
            <a:ext cx="43331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ANTIGA (anos 80-90)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1999506"/>
            <a:ext cx="4248150" cy="1388269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7650" y="1999506"/>
            <a:ext cx="0" cy="1388269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050" y="2132856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0050" y="2369046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Pré-reperfusão (sem ICP primária)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0050" y="2553742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Pré-estatinas de alta potência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0050" y="2738438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Pré-IECA/BRA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00050" y="2923133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Sem dupla antiagregação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00050" y="3107829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Mortalidade basal muito maior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28600" y="3635425"/>
            <a:ext cx="4248150" cy="337096"/>
          </a:xfrm>
          <a:prstGeom prst="roundRect">
            <a:avLst>
              <a:gd name="adj" fmla="val 16954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3850" y="3730675"/>
            <a:ext cx="41388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Indirectness severa: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paciente de 1985 não é o paciente de 2024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67250" y="1587996"/>
            <a:ext cx="43331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MODERNA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67250" y="2008882"/>
            <a:ext cx="4248150" cy="1369368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2008882"/>
            <a:ext cx="0" cy="1369368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700" y="214223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Registry (2012):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8700" y="2378422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44.708 pacientes com DAC estável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38700" y="2601218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não reduziu morte CV ou IAM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38700" y="2862114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Meta-análises recentes: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8700" y="3098304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 ausente em FE preservada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67250" y="3625900"/>
            <a:ext cx="4248150" cy="337096"/>
          </a:xfrm>
          <a:prstGeom prst="roundRect">
            <a:avLst>
              <a:gd name="adj" fmla="val 16954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500" y="3721150"/>
            <a:ext cx="41388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ESC: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FE reduzida → BB só para controle de angina (IIb)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 S et al. JAMA. 2012;308(13):1340-1349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FUNDAMENTAL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8688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de Risco CV — Por que o DM já parte alto?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386036"/>
            <a:ext cx="4352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de Risco (ESC 2021/2024)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1806922"/>
            <a:ext cx="4267200" cy="508546"/>
          </a:xfrm>
          <a:prstGeom prst="roundRect">
            <a:avLst>
              <a:gd name="adj" fmla="val 11238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902172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ALTO: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DCV estabelecida, DM + LOA, DRC grave, SCORE2 ≥10%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3850" y="208686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LDL: &lt;55 mg/dL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" y="2544068"/>
            <a:ext cx="4267200" cy="508546"/>
          </a:xfrm>
          <a:prstGeom prst="roundRect">
            <a:avLst>
              <a:gd name="adj" fmla="val 11238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639318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 muito elevado, DM &gt;10 anos, SCORE2 5-10%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3850" y="2824014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EF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LDL: &lt;70 mg/dL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3281214"/>
            <a:ext cx="4267200" cy="508546"/>
          </a:xfrm>
          <a:prstGeom prst="roundRect">
            <a:avLst>
              <a:gd name="adj" fmla="val 11238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850" y="3376464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DM jovem sem FR, SCORE2 1-5%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23850" y="3561159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LDL: &lt;100 mg/dL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4018359"/>
            <a:ext cx="4267200" cy="508546"/>
          </a:xfrm>
          <a:prstGeom prst="roundRect">
            <a:avLst>
              <a:gd name="adj" fmla="val 11238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3850" y="4113609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SCORE2 &lt;1%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3850" y="4298305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LDL: &lt;116 mg/dL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48200" y="1569988"/>
            <a:ext cx="4352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DM = Risco Elevado?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48200" y="1990874"/>
            <a:ext cx="4267200" cy="1818829"/>
          </a:xfrm>
          <a:prstGeom prst="roundRect">
            <a:avLst>
              <a:gd name="adj" fmla="val 419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550" y="2124224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epidemiológicas: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81550" y="2347020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Risco de IAM 2-4x maior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781550" y="255076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Risco de AVC 2x maior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81550" y="2754511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Mortalidade CV 2-3x maior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81550" y="2958257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Framingham, UKPDS, DECODE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550" y="3219152"/>
            <a:ext cx="4000500" cy="457200"/>
          </a:xfrm>
          <a:prstGeom prst="roundRect">
            <a:avLst>
              <a:gd name="adj" fmla="val 8333"/>
            </a:avLst>
          </a:prstGeom>
          <a:solidFill>
            <a:srgbClr val="D69E2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7750" y="329535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EMPA-REG, LEADER, REWIND: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57750" y="346680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Incluíram DM2 + DCV ou alto risco, não DM "comum". Indirectness se aplicar a todo DM2.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48200" y="4057352"/>
            <a:ext cx="4267200" cy="285750"/>
          </a:xfrm>
          <a:prstGeom prst="roundRect">
            <a:avLst>
              <a:gd name="adj" fmla="val 20000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4400" y="4133552"/>
            <a:ext cx="4197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DM jovem sem FR pode ser risco moderado — individualizar!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EM DETALHE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4510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IMPROVE-IT — Ezetimiba: Quanto Mais Baixo, Melhor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658541"/>
            <a:ext cx="3987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do Estudo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2079427"/>
            <a:ext cx="3908971" cy="1228279"/>
          </a:xfrm>
          <a:prstGeom prst="roundRect">
            <a:avLst>
              <a:gd name="adj" fmla="val 6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2212777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18.144 pacientes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1950" y="2416522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Populacao: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 recente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61950" y="2620268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Intervencao: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Sinva 40 + Eze 10mg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1950" y="2824014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Sinva 40 + Placebo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1950" y="3027759"/>
            <a:ext cx="371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anos (mediana)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28600" y="3555355"/>
            <a:ext cx="3908971" cy="337096"/>
          </a:xfrm>
          <a:prstGeom prst="roundRect">
            <a:avLst>
              <a:gd name="adj" fmla="val 1695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850" y="3650605"/>
            <a:ext cx="37928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alcancado: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54 vs 70 mg/dL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328071" y="1700361"/>
            <a:ext cx="46790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28071" y="2121247"/>
            <a:ext cx="4587329" cy="1729383"/>
          </a:xfrm>
          <a:prstGeom prst="roundRect">
            <a:avLst>
              <a:gd name="adj" fmla="val 440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61421" y="2254597"/>
            <a:ext cx="4320629" cy="588466"/>
          </a:xfrm>
          <a:prstGeom prst="roundRect">
            <a:avLst>
              <a:gd name="adj" fmla="val 9712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15369" y="2349847"/>
            <a:ext cx="42127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 Composto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515369" y="2534543"/>
            <a:ext cx="42127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0.94 (0.89-0.99) p=0.016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1421" y="2938314"/>
            <a:ext cx="1389459" cy="451396"/>
          </a:xfrm>
          <a:prstGeom prst="roundRect">
            <a:avLst>
              <a:gd name="adj" fmla="val 844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25250" y="3014514"/>
            <a:ext cx="1261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25250" y="3166914"/>
            <a:ext cx="1261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-13%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927080" y="2938314"/>
            <a:ext cx="1389459" cy="451396"/>
          </a:xfrm>
          <a:prstGeom prst="roundRect">
            <a:avLst>
              <a:gd name="adj" fmla="val 844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90909" y="3014514"/>
            <a:ext cx="1261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90909" y="3166914"/>
            <a:ext cx="1261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-21%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392739" y="2938314"/>
            <a:ext cx="1389459" cy="451396"/>
          </a:xfrm>
          <a:prstGeom prst="roundRect">
            <a:avLst>
              <a:gd name="adj" fmla="val 844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56569" y="3014514"/>
            <a:ext cx="1261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CV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56569" y="3166914"/>
            <a:ext cx="12618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4461421" y="3489722"/>
            <a:ext cx="4320629" cy="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1421" y="3570684"/>
            <a:ext cx="44070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NNT = 50 em 7 anos | Maior beneficio em DM (NNT=38)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Cannon CP et al. N Engl J Med. 2015;372:2387-2397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 DA TERAPIA LIPÍDICA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56544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 — De Onde Veio Esta Ideia?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638449"/>
            <a:ext cx="2085975" cy="1018877"/>
          </a:xfrm>
          <a:prstGeom prst="roundRect">
            <a:avLst>
              <a:gd name="adj" fmla="val 747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771799"/>
            <a:ext cx="18556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4S (1994)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1950" y="2007989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Sinvastatina vs placebo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1950" y="219268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LDL: 188 → 122 mg/dL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61950" y="2377380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Morte: -30%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428875" y="1638449"/>
            <a:ext cx="2085975" cy="1018877"/>
          </a:xfrm>
          <a:prstGeom prst="roundRect">
            <a:avLst>
              <a:gd name="adj" fmla="val 747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2225" y="1771799"/>
            <a:ext cx="18556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IT-TIMI 22 (2004)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2225" y="2007989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 80 vs Prava 40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562225" y="219268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LDL: 62 vs 95 mg/dL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562225" y="2377380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MACE: -16%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29150" y="1638449"/>
            <a:ext cx="2085975" cy="1018877"/>
          </a:xfrm>
          <a:prstGeom prst="roundRect">
            <a:avLst>
              <a:gd name="adj" fmla="val 747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0" y="1771799"/>
            <a:ext cx="18556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IMPROVE-IT (2015)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2500" y="2007989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Estatina + Eze vs Estatina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62500" y="219268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LDL: 54 vs 70 mg/dL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62500" y="2377380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MACE: -6.4%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829425" y="1638449"/>
            <a:ext cx="2085975" cy="1018877"/>
          </a:xfrm>
          <a:prstGeom prst="roundRect">
            <a:avLst>
              <a:gd name="adj" fmla="val 747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2775" y="1771799"/>
            <a:ext cx="18556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FOURIER (2017)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62775" y="2007989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Evolocumab + Estatina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962775" y="219268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LDL: 30 vs 92 mg/dL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962775" y="2377380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MACE: -15%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28600" y="2962126"/>
            <a:ext cx="8686800" cy="765721"/>
          </a:xfrm>
          <a:prstGeom prst="roundRect">
            <a:avLst>
              <a:gd name="adj" fmla="val 9951"/>
            </a:avLst>
          </a:prstGeom>
          <a:solidFill>
            <a:srgbClr val="38A169">
              <a:alpha val="20000"/>
            </a:srgbClr>
          </a:solidFill>
          <a:ln w="19050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6611" y="3133576"/>
            <a:ext cx="85107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Meta-análise CTT: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39 mg/dL de redução no LDL → 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de redução em eventos CV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6611" y="3396407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linear sem "floor effect" até LDL ~20 mg/dL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3994547"/>
            <a:ext cx="8686800" cy="337096"/>
          </a:xfrm>
          <a:prstGeom prst="rect">
            <a:avLst/>
          </a:prstGeom>
          <a:solidFill>
            <a:srgbClr val="D69E2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7650" y="3994547"/>
            <a:ext cx="0" cy="337096"/>
          </a:xfrm>
          <a:prstGeom prst="line">
            <a:avLst/>
          </a:prstGeom>
          <a:noFill/>
          <a:ln w="38100">
            <a:solidFill>
              <a:srgbClr val="D69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950" y="4089797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Qualidade ALTA para benefício de redução intensa de LDL em muito alto risco → Classe I, Nível A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PRÁTICA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3442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Alto Risco: Escalonamento da Terapia Lipídica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006078"/>
            <a:ext cx="2590800" cy="2361902"/>
          </a:xfrm>
          <a:prstGeom prst="roundRect">
            <a:avLst>
              <a:gd name="adj" fmla="val 3226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709" y="1139428"/>
            <a:ext cx="237058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38709" y="1847999"/>
            <a:ext cx="23705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Estatina Alta Potência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38709" y="2249835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 40-80mg ou Rosuva 20-40mg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38709" y="2625030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LDL ~50%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1950" y="2986980"/>
            <a:ext cx="23241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7002" y="30441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I, Nível 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33700" y="2027039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76600" y="1006078"/>
            <a:ext cx="2590800" cy="2361902"/>
          </a:xfrm>
          <a:prstGeom prst="roundRect">
            <a:avLst>
              <a:gd name="adj" fmla="val 3226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6709" y="1139428"/>
            <a:ext cx="237058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386709" y="1847999"/>
            <a:ext cx="23705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Ezetimiba 10mg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86709" y="2249835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LDL ainda acima da meta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86709" y="2625030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LDL adicional ~20%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09950" y="2986980"/>
            <a:ext cx="23241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45002" y="30441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I, Nível 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1700" y="2027039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24600" y="1006078"/>
            <a:ext cx="2590800" cy="2361902"/>
          </a:xfrm>
          <a:prstGeom prst="roundRect">
            <a:avLst>
              <a:gd name="adj" fmla="val 3226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34709" y="1139428"/>
            <a:ext cx="237058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434709" y="1847999"/>
            <a:ext cx="23705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iPCSK9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434709" y="2249835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6B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Evolocumab ou Alirocumab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434709" y="2625030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LDL adicional ~60%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57950" y="2986980"/>
            <a:ext cx="23241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93002" y="30441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I, Nível 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3672780"/>
            <a:ext cx="8686800" cy="649486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950" y="380613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que sustentam: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950" y="4042321"/>
            <a:ext cx="17967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IMPROVE-IT: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Estatina + Eze em SCA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275880" y="4042321"/>
            <a:ext cx="1936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FOURIER: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Evolocumab em DCV estável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26582" y="4042321"/>
            <a:ext cx="15600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ODYSSEY: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Alirocumab pós-SCA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28600" y="4569916"/>
            <a:ext cx="8686800" cy="337096"/>
          </a:xfrm>
          <a:prstGeom prst="roundRect">
            <a:avLst>
              <a:gd name="adj" fmla="val 16954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3850" y="4665166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para Muito Alto Risco: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LDL &lt;55 mg/dL E redução ≥50% do basal</a:t>
            </a:r>
            <a:endParaRPr lang="en-US" sz="8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PRÁTICA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colchicina é IIa e não I?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632793"/>
            <a:ext cx="44302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pelos domínios GRADE: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2053679"/>
            <a:ext cx="4343400" cy="1590229"/>
          </a:xfrm>
          <a:prstGeom prst="roundRect">
            <a:avLst>
              <a:gd name="adj" fmla="val 4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2208907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bias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57350" y="2187029"/>
            <a:ext cx="1058614" cy="203746"/>
          </a:xfrm>
          <a:prstGeom prst="roundRect">
            <a:avLst>
              <a:gd name="adj" fmla="val 18700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52600" y="2215604"/>
            <a:ext cx="8854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Duplo-cego, ITT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61950" y="2488853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57350" y="2466975"/>
            <a:ext cx="1912888" cy="203746"/>
          </a:xfrm>
          <a:prstGeom prst="roundRect">
            <a:avLst>
              <a:gd name="adj" fmla="val 18700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52600" y="2495550"/>
            <a:ext cx="17568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COLCOT e LoDoCo2 consistentes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61950" y="2768798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Indirectness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57350" y="2746921"/>
            <a:ext cx="1350466" cy="203746"/>
          </a:xfrm>
          <a:prstGeom prst="roundRect">
            <a:avLst>
              <a:gd name="adj" fmla="val 18700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52600" y="2775496"/>
            <a:ext cx="1183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Populações diferentes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61950" y="3048744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Imprecision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57350" y="3026866"/>
            <a:ext cx="1076176" cy="203746"/>
          </a:xfrm>
          <a:prstGeom prst="roundRect">
            <a:avLst>
              <a:gd name="adj" fmla="val 18700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2600" y="3055441"/>
            <a:ext cx="9033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IC não cruza 1.0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61950" y="3328690"/>
            <a:ext cx="1165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bias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57350" y="3306812"/>
            <a:ext cx="819894" cy="203746"/>
          </a:xfrm>
          <a:prstGeom prst="roundRect">
            <a:avLst>
              <a:gd name="adj" fmla="val 18700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52600" y="3335387"/>
            <a:ext cx="6419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Improvável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28600" y="3910608"/>
            <a:ext cx="4343400" cy="350490"/>
          </a:xfrm>
          <a:prstGeom prst="roundRect">
            <a:avLst>
              <a:gd name="adj" fmla="val 16306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3850" y="4005858"/>
            <a:ext cx="423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GRADE: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Moderada a Alta (⊕⊕⊕○ a ⊕⊕⊕⊕)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400" y="1550938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 por que não é Classe I?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724400" y="1971824"/>
            <a:ext cx="4191000" cy="2371130"/>
          </a:xfrm>
          <a:prstGeom prst="roundRect">
            <a:avLst>
              <a:gd name="adj" fmla="val 321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6800" y="2124224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força depende de mais que evidência: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6800" y="237946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Magnitude do benefício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76800" y="259080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NNT ~60 em 2 anos (modesto)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6800" y="2884140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Riscos não triviais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76800" y="309547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Diarreia 10%, miopatia, interações CYP3A4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6800" y="338881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Valores do paciente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876800" y="3600152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um comprimido para benefício modesto?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76800" y="3898255"/>
            <a:ext cx="3886200" cy="0"/>
          </a:xfrm>
          <a:prstGeom prst="line">
            <a:avLst/>
          </a:prstGeom>
          <a:noFill/>
          <a:ln w="9525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6800" y="401731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Balanço apertado = Força condicional (IIa)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PRÁTICA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6023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Checklist: Como Ler uma Diretriz Criticamente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448098"/>
            <a:ext cx="4267200" cy="834182"/>
          </a:xfrm>
          <a:prstGeom prst="roundRect">
            <a:avLst>
              <a:gd name="adj" fmla="val 91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581448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IDENTIFIQUE A CLASSE E O NÍVEL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1950" y="1817638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 é a classe? (I, IIa, IIb, III)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1950" y="2002334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 é o nível? (A, B, C)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548979"/>
            <a:ext cx="4267200" cy="834182"/>
          </a:xfrm>
          <a:prstGeom prst="roundRect">
            <a:avLst>
              <a:gd name="adj" fmla="val 91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1950" y="268232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LEIA O TEXTO DA RECOMENDAÇÃO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950" y="2918520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Quais estudos sustentam?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61950" y="310321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Há ressalvas mencionadas?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8600" y="3649861"/>
            <a:ext cx="4267200" cy="834182"/>
          </a:xfrm>
          <a:prstGeom prst="roundRect">
            <a:avLst>
              <a:gd name="adj" fmla="val 91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1950" y="3783211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AVALIE A POPULAÇÃO DO TRIAL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950" y="4019401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 paciente do trial é o meu?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61950" y="4204097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Há exclusões relevantes?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48200" y="1263402"/>
            <a:ext cx="4267200" cy="1018877"/>
          </a:xfrm>
          <a:prstGeom prst="roundRect">
            <a:avLst>
              <a:gd name="adj" fmla="val 74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1550" y="1396752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CHEQUE OS NÚMEROS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81550" y="1632942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 IC cruza 1.0?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81550" y="1817638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 o NNT realístico?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81550" y="2002334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 o NNH?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8200" y="2548979"/>
            <a:ext cx="4267200" cy="834182"/>
          </a:xfrm>
          <a:prstGeom prst="roundRect">
            <a:avLst>
              <a:gd name="adj" fmla="val 91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1550" y="268232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CONSIDERE O CONTEXTO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1550" y="2918520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Evidência antiga ainda válida?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550" y="310321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Aplicável ao Brasil?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48200" y="3649861"/>
            <a:ext cx="4267200" cy="1018877"/>
          </a:xfrm>
          <a:prstGeom prst="roundRect">
            <a:avLst>
              <a:gd name="adj" fmla="val 747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3783211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DECIDA COM O PACIENTE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1550" y="4019401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Valores e preferências?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81550" y="4204097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Balanço benefício-risco?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81550" y="4388793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Recursos disponíveis?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EM GRUPO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445740"/>
            <a:ext cx="5120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Avalie esta recomendação da ESC 2024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28600" y="1017240"/>
            <a:ext cx="8686800" cy="1020961"/>
          </a:xfrm>
          <a:prstGeom prst="roundRect">
            <a:avLst>
              <a:gd name="adj" fmla="val 746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207740"/>
            <a:ext cx="8471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patients with CCS and type 2 diabetes mellitus, an SGLT2 inhibitor or GLP-1 RA is recommended to reduce CV risk."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9100" y="1560165"/>
            <a:ext cx="734913" cy="287536"/>
          </a:xfrm>
          <a:prstGeom prst="roundRect">
            <a:avLst>
              <a:gd name="adj" fmla="val 13251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1617315"/>
            <a:ext cx="4775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68313" y="1560165"/>
            <a:ext cx="681930" cy="287536"/>
          </a:xfrm>
          <a:prstGeom prst="roundRect">
            <a:avLst>
              <a:gd name="adj" fmla="val 13251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1663" y="1617315"/>
            <a:ext cx="4235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8600" y="2730847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Discutam em grupos (5 min):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3184178"/>
            <a:ext cx="2793950" cy="649486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1950" y="3317528"/>
            <a:ext cx="2577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Quais trials sustentam?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950" y="3553718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EMPA-REG, CANVAS, LEADER, SUSTAIN-6...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174950" y="3184178"/>
            <a:ext cx="2793950" cy="649486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8300" y="3317528"/>
            <a:ext cx="2577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Há indirectness?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08300" y="3553718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 DM2 + alto risco CV. É seu paciente?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121301" y="3184178"/>
            <a:ext cx="2793950" cy="649486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54651" y="3317528"/>
            <a:ext cx="2577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Por que Classe I aqui?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54651" y="3553718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com colchicina (IIa)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28600" y="4138464"/>
            <a:ext cx="8686800" cy="388590"/>
          </a:xfrm>
          <a:prstGeom prst="roundRect">
            <a:avLst>
              <a:gd name="adj" fmla="val 1470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900" y="4252764"/>
            <a:ext cx="8627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SGLT2i reduziu morte CV em 38% no EMPA-REG (HR 0.62, IC 0.49-0.77). Magnitude do benefício muito maior que colchicina.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Messages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481138"/>
            <a:ext cx="457200" cy="466725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3502" y="155451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100" y="1481138"/>
            <a:ext cx="8115300" cy="466725"/>
          </a:xfrm>
          <a:prstGeom prst="roundRect">
            <a:avLst>
              <a:gd name="adj" fmla="val 1632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3450" y="1614488"/>
            <a:ext cx="800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≠ Força.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Nível A pode virar recomendação fraca; Nível C pode virar forte.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600" y="2062163"/>
            <a:ext cx="457200" cy="466725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3502" y="213553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2062163"/>
            <a:ext cx="8115300" cy="466725"/>
          </a:xfrm>
          <a:prstGeom prst="roundRect">
            <a:avLst>
              <a:gd name="adj" fmla="val 1632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95513"/>
            <a:ext cx="800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"Múltiplos RCTs" não garante qualidade alta.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Avalie os 5 domínios.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28600" y="2643188"/>
            <a:ext cx="457200" cy="466725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3502" y="271656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0100" y="2643188"/>
            <a:ext cx="8115300" cy="466725"/>
          </a:xfrm>
          <a:prstGeom prst="roundRect">
            <a:avLst>
              <a:gd name="adj" fmla="val 1632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3450" y="2776538"/>
            <a:ext cx="800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Indirectness é o mais negligenciado.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paciente do trial não é seu paciente.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28600" y="3224213"/>
            <a:ext cx="457200" cy="466725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3502" y="329758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0100" y="3224213"/>
            <a:ext cx="8115300" cy="466725"/>
          </a:xfrm>
          <a:prstGeom prst="roundRect">
            <a:avLst>
              <a:gd name="adj" fmla="val 1632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3450" y="3357563"/>
            <a:ext cx="800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ESC/AHA não são GRADE formal.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São sistemas simplificados com limitações.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28600" y="3805237"/>
            <a:ext cx="457200" cy="466725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3502" y="387861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100" y="3805237"/>
            <a:ext cx="8115300" cy="466725"/>
          </a:xfrm>
          <a:prstGeom prst="roundRect">
            <a:avLst>
              <a:gd name="adj" fmla="val 1632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3450" y="3938588"/>
            <a:ext cx="8005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a diretriz, não só a tabela.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texto justifica as classes e revela incertezas.</a:t>
            </a:r>
            <a:endParaRPr lang="en-US" sz="11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5520" y="472827"/>
            <a:ext cx="139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REFLEXÃO FINAL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71575" y="1013817"/>
            <a:ext cx="68008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Aft>
                <a:spcPts val="2400"/>
              </a:spcAft>
              <a:buNone/>
            </a:pPr>
            <a:r>
              <a:rPr lang="en-US" sz="1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bom médico não é aquele que sabe tudo, mas aquele que sabe o que não sabe — e age com sabedoria apesar disso."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286250" y="2141339"/>
            <a:ext cx="571500" cy="1905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81583" y="2617589"/>
            <a:ext cx="29806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GRADE não elimina a incerteza.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5830" y="3059460"/>
            <a:ext cx="32923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a torna </a:t>
            </a:r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visível</a:t>
            </a:r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mensurável</a:t>
            </a:r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comunicável</a:t>
            </a:r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66008" y="3501330"/>
            <a:ext cx="50119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isso é o melhor que a medicina baseada em evidências pode oferecer.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0466" y="4248001"/>
            <a:ext cx="25629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incerteza não é fraqueza.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290466" y="4497437"/>
            <a:ext cx="25629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condição de toda prática médica honesta.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1460450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 GRADE (BMJ)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1868091"/>
            <a:ext cx="43136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Guyatt GH et al. GRADE: an emerging consensus on rating quality of evidence. 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BMJ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2008;336:924-926.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2389882"/>
            <a:ext cx="43136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Guyatt GH et al. What is "quality of evidence" and why is it important? 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BMJ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2008;336:995-998.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28600" y="2911673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Guyatt GH et al. Going from evidence to recommendations. </a:t>
            </a:r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BMJ</a:t>
            </a:r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2008;336:1049-1051.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28600" y="3363069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DIRETRIZES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3770709"/>
            <a:ext cx="43136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Fanaroff AC et al. Levels of Evidence Supporting ACC/AHA and ESC Guidelines, 2008-2018. </a:t>
            </a:r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2019;321(11):1069-1080.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86300" y="1231850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DIRETRIZES DE SCC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6300" y="1639491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Vrints C et al. 2024 ESC Guidelines for CCS. 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Heart J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2024;45:3415-3537.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86300" y="2014686"/>
            <a:ext cx="43136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 LAM et al. Diretriz Brasileira de SCC 2025. 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 Bras Cardiol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2025;122(9):e20250619.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86300" y="2536478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Virani SS et al. 2023 AHA/ACC CCD Guideline. </a:t>
            </a:r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</a:t>
            </a:r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2023;148:e9-e119.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86300" y="2987873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 CITADOS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6300" y="3395514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Maron DJ et al. ISCHEMIA Trial. 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Engl J Med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2020;382:1395-1407.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3770709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Tardif JC et al. COLCOT. 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Engl J Med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2019;381:2497-2505.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4145905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Nidorf SM et al. LoDoCo2. </a:t>
            </a:r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Engl J Med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2020;383:1838-1847.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28600" y="4876800"/>
            <a:ext cx="8686800" cy="3810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945952"/>
            <a:ext cx="571500" cy="1905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8730" y="1346002"/>
            <a:ext cx="6606540" cy="92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Aft>
                <a:spcPts val="2400"/>
              </a:spcAft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"Tenha paciência com tudo o que há de não resolvido em seu coração e tente amar as próprias perguntas como quartos fechados ou livros escritos numa língua muito estrangeira. Não busque por ora as respostas. Viva por ora as perguntas."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381500" y="2728764"/>
            <a:ext cx="381000" cy="9525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1448" y="3081189"/>
            <a:ext cx="3280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Rainer Maria Rilke — Cartas a um Jovem Poeta, 1903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3125" y="3801219"/>
            <a:ext cx="485775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medicina baseada em evidências não nos livra das perguntas — ela nos ensina a conviver com elas com mais honestidade.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GRADE - Da Teoria à Leitura Crítica de Diretrizes</dc:title>
  <dc:subject>PptxGenJS Presentation</dc:subject>
  <dc:creator>Residência R3 - Medicina Interna</dc:creator>
  <cp:lastModifiedBy>Residência R3 - Medicina Interna</cp:lastModifiedBy>
  <cp:revision>1</cp:revision>
  <dcterms:created xsi:type="dcterms:W3CDTF">2025-12-04T14:48:45Z</dcterms:created>
  <dcterms:modified xsi:type="dcterms:W3CDTF">2025-12-04T14:48:45Z</dcterms:modified>
</cp:coreProperties>
</file>